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rchive.ics.uci.edu/dataset/501/beijing+multi+site+air+quality+data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347472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7319" y="457200"/>
            <a:ext cx="640081" cy="6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ext 1"/>
          <p:cNvSpPr txBox="1"/>
          <p:nvPr/>
        </p:nvSpPr>
        <p:spPr>
          <a:xfrm>
            <a:off x="91439" y="1348784"/>
            <a:ext cx="32918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400" sz="1000">
                <a:solidFill>
                  <a:srgbClr val="CCFBF1"/>
                </a:solidFill>
              </a:defRPr>
            </a:lvl1pPr>
          </a:lstStyle>
          <a:p>
            <a:pPr/>
            <a:r>
              <a:t>DATA ANALYTICS</a:t>
            </a:r>
          </a:p>
        </p:txBody>
      </p:sp>
      <p:sp>
        <p:nvSpPr>
          <p:cNvPr id="23" name="Shape 2"/>
          <p:cNvSpPr/>
          <p:nvPr/>
        </p:nvSpPr>
        <p:spPr>
          <a:xfrm>
            <a:off x="256031" y="1783079"/>
            <a:ext cx="201169" cy="201169"/>
          </a:xfrm>
          <a:prstGeom prst="ellipse">
            <a:avLst/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3"/>
          <p:cNvSpPr/>
          <p:nvPr/>
        </p:nvSpPr>
        <p:spPr>
          <a:xfrm>
            <a:off x="777240" y="1783079"/>
            <a:ext cx="201169" cy="201169"/>
          </a:xfrm>
          <a:prstGeom prst="ellipse">
            <a:avLst/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4"/>
          <p:cNvSpPr/>
          <p:nvPr/>
        </p:nvSpPr>
        <p:spPr>
          <a:xfrm>
            <a:off x="1298447" y="1783079"/>
            <a:ext cx="201169" cy="201169"/>
          </a:xfrm>
          <a:prstGeom prst="ellipse">
            <a:avLst/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5"/>
          <p:cNvSpPr/>
          <p:nvPr/>
        </p:nvSpPr>
        <p:spPr>
          <a:xfrm>
            <a:off x="1819655" y="1783079"/>
            <a:ext cx="201169" cy="201169"/>
          </a:xfrm>
          <a:prstGeom prst="ellipse">
            <a:avLst/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6"/>
          <p:cNvSpPr/>
          <p:nvPr/>
        </p:nvSpPr>
        <p:spPr>
          <a:xfrm>
            <a:off x="2340864" y="1783079"/>
            <a:ext cx="201169" cy="201169"/>
          </a:xfrm>
          <a:prstGeom prst="ellipse">
            <a:avLst/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7"/>
          <p:cNvSpPr txBox="1"/>
          <p:nvPr/>
        </p:nvSpPr>
        <p:spPr>
          <a:xfrm>
            <a:off x="3749040" y="1181099"/>
            <a:ext cx="5029201" cy="129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Air Quality</a:t>
            </a:r>
          </a:p>
          <a:p>
            <a:pPr>
              <a:defRPr b="1"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Analysis</a:t>
            </a:r>
          </a:p>
        </p:txBody>
      </p:sp>
      <p:sp>
        <p:nvSpPr>
          <p:cNvPr id="29" name="Text 8"/>
          <p:cNvSpPr txBox="1"/>
          <p:nvPr/>
        </p:nvSpPr>
        <p:spPr>
          <a:xfrm>
            <a:off x="3749040" y="2725114"/>
            <a:ext cx="50292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4B8A6"/>
                </a:solidFill>
              </a:defRPr>
            </a:lvl1pPr>
          </a:lstStyle>
          <a:p>
            <a:pPr/>
            <a:r>
              <a:t>Using Beijing Multi-Station Dataset</a:t>
            </a:r>
          </a:p>
        </p:txBody>
      </p:sp>
      <p:sp>
        <p:nvSpPr>
          <p:cNvPr id="30" name="Shape 9"/>
          <p:cNvSpPr/>
          <p:nvPr/>
        </p:nvSpPr>
        <p:spPr>
          <a:xfrm>
            <a:off x="3749040" y="3182111"/>
            <a:ext cx="4937761" cy="1"/>
          </a:xfrm>
          <a:prstGeom prst="line">
            <a:avLst/>
          </a:prstGeom>
          <a:ln w="1905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0"/>
          <p:cNvSpPr txBox="1"/>
          <p:nvPr/>
        </p:nvSpPr>
        <p:spPr>
          <a:xfrm>
            <a:off x="3749040" y="3415328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12 Monitoring Stations  ·  420,768 Records  ·  2013–2017  ·  PM2.5 / PM10 / SO₂ / NO₂ / CO / O₃</a:t>
            </a:r>
          </a:p>
        </p:txBody>
      </p:sp>
      <p:sp>
        <p:nvSpPr>
          <p:cNvPr id="32" name="Text 11"/>
          <p:cNvSpPr txBox="1"/>
          <p:nvPr/>
        </p:nvSpPr>
        <p:spPr>
          <a:xfrm>
            <a:off x="3749040" y="4526324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Source: Royal Society Publishing – Cautionary Tales on Air Quality in Beijing</a:t>
            </a:r>
          </a:p>
        </p:txBody>
      </p:sp>
      <p:sp>
        <p:nvSpPr>
          <p:cNvPr id="33" name="Text 11"/>
          <p:cNvSpPr txBox="1"/>
          <p:nvPr/>
        </p:nvSpPr>
        <p:spPr>
          <a:xfrm>
            <a:off x="3749040" y="4759960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Analyzed by: Ganuke Perera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365759" y="256031"/>
            <a:ext cx="73153" cy="29261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1"/>
          <p:cNvSpPr txBox="1"/>
          <p:nvPr/>
        </p:nvSpPr>
        <p:spPr>
          <a:xfrm>
            <a:off x="548640" y="338836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D9488"/>
                </a:solidFill>
              </a:defRPr>
            </a:lvl1pPr>
          </a:lstStyle>
          <a:p>
            <a:pPr/>
            <a:r>
              <a:t>DATASET OVERVIEW</a:t>
            </a:r>
          </a:p>
        </p:txBody>
      </p:sp>
      <p:sp>
        <p:nvSpPr>
          <p:cNvPr id="37" name="Text 2"/>
          <p:cNvSpPr txBox="1"/>
          <p:nvPr/>
        </p:nvSpPr>
        <p:spPr>
          <a:xfrm>
            <a:off x="411479" y="678180"/>
            <a:ext cx="83210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About the Data</a:t>
            </a:r>
          </a:p>
        </p:txBody>
      </p:sp>
      <p:sp>
        <p:nvSpPr>
          <p:cNvPr id="38" name="Shape 3"/>
          <p:cNvSpPr/>
          <p:nvPr/>
        </p:nvSpPr>
        <p:spPr>
          <a:xfrm>
            <a:off x="320039" y="1325879"/>
            <a:ext cx="4892042" cy="352044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" name="Text 4"/>
          <p:cNvSpPr txBox="1"/>
          <p:nvPr/>
        </p:nvSpPr>
        <p:spPr>
          <a:xfrm>
            <a:off x="502919" y="1542096"/>
            <a:ext cx="4572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A1628"/>
                </a:solidFill>
              </a:defRPr>
            </a:lvl1pPr>
          </a:lstStyle>
          <a:p>
            <a:pPr/>
            <a:r>
              <a:t>Source &amp; Context</a:t>
            </a:r>
          </a:p>
        </p:txBody>
      </p:sp>
      <p:sp>
        <p:nvSpPr>
          <p:cNvPr id="40" name="Text 5"/>
          <p:cNvSpPr txBox="1"/>
          <p:nvPr/>
        </p:nvSpPr>
        <p:spPr>
          <a:xfrm>
            <a:off x="502919" y="1874520"/>
            <a:ext cx="4572001" cy="1770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b="1" sz="1200">
                <a:solidFill>
                  <a:srgbClr val="334155"/>
                </a:solidFill>
              </a:defRPr>
            </a:pPr>
            <a:r>
              <a:t>Source: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https://archive.ics.uci.edu/dataset/501/beijing+multi+site+air+quality+data</a:t>
            </a:r>
            <a:endParaRPr b="0"/>
          </a:p>
          <a:p>
            <a:pPr>
              <a:lnSpc>
                <a:spcPct val="150000"/>
              </a:lnSpc>
              <a:defRPr b="1" sz="1200">
                <a:solidFill>
                  <a:srgbClr val="334155"/>
                </a:solidFill>
              </a:defRPr>
            </a:pPr>
            <a:r>
              <a:t>Stations: </a:t>
            </a:r>
            <a:r>
              <a:rPr b="0"/>
              <a:t>12 air-quality monitoring stations across Beijing</a:t>
            </a:r>
            <a:endParaRPr b="0"/>
          </a:p>
          <a:p>
            <a:pPr>
              <a:lnSpc>
                <a:spcPct val="150000"/>
              </a:lnSpc>
              <a:defRPr b="1" sz="1200">
                <a:solidFill>
                  <a:srgbClr val="334155"/>
                </a:solidFill>
              </a:defRPr>
            </a:pPr>
            <a:r>
              <a:t>Period: </a:t>
            </a:r>
            <a:r>
              <a:rPr b="0"/>
              <a:t>March 2013 – February 2017 (hourly)</a:t>
            </a:r>
            <a:endParaRPr b="0"/>
          </a:p>
          <a:p>
            <a:pPr>
              <a:lnSpc>
                <a:spcPct val="150000"/>
              </a:lnSpc>
              <a:defRPr b="1" sz="1200">
                <a:solidFill>
                  <a:srgbClr val="334155"/>
                </a:solidFill>
              </a:defRPr>
            </a:pPr>
            <a:r>
              <a:t>Pollutants: </a:t>
            </a:r>
            <a:r>
              <a:rPr b="0"/>
              <a:t>PM2.5, PM10, SO₂, NO₂, CO, O₃</a:t>
            </a:r>
            <a:endParaRPr b="0"/>
          </a:p>
          <a:p>
            <a:pPr>
              <a:lnSpc>
                <a:spcPct val="150000"/>
              </a:lnSpc>
              <a:defRPr b="1" sz="1200">
                <a:solidFill>
                  <a:srgbClr val="334155"/>
                </a:solidFill>
              </a:defRPr>
            </a:pPr>
            <a:r>
              <a:t>Meteorological: </a:t>
            </a:r>
            <a:r>
              <a:rPr b="0"/>
              <a:t>Temp, Pressure, Dew Point, Rain, Wind Speed</a:t>
            </a:r>
            <a:endParaRPr b="0"/>
          </a:p>
          <a:p>
            <a:pPr>
              <a:lnSpc>
                <a:spcPct val="150000"/>
              </a:lnSpc>
              <a:defRPr b="1" sz="1200">
                <a:solidFill>
                  <a:srgbClr val="334155"/>
                </a:solidFill>
              </a:defRPr>
            </a:pPr>
            <a:r>
              <a:t>Analysis</a:t>
            </a:r>
            <a:r>
              <a:rPr b="0"/>
              <a:t> </a:t>
            </a:r>
            <a:r>
              <a:t>Tools: </a:t>
            </a:r>
            <a:r>
              <a:rPr b="0"/>
              <a:t>Python · Pandas · Matplotlib · Seaborn</a:t>
            </a:r>
          </a:p>
        </p:txBody>
      </p:sp>
      <p:sp>
        <p:nvSpPr>
          <p:cNvPr id="41" name="Shape 6"/>
          <p:cNvSpPr/>
          <p:nvPr/>
        </p:nvSpPr>
        <p:spPr>
          <a:xfrm>
            <a:off x="5394959" y="1325880"/>
            <a:ext cx="1965961" cy="137160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Shape 7"/>
          <p:cNvSpPr/>
          <p:nvPr/>
        </p:nvSpPr>
        <p:spPr>
          <a:xfrm>
            <a:off x="5394959" y="1325880"/>
            <a:ext cx="1965961" cy="9144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8"/>
          <p:cNvSpPr txBox="1"/>
          <p:nvPr/>
        </p:nvSpPr>
        <p:spPr>
          <a:xfrm>
            <a:off x="5394959" y="1620399"/>
            <a:ext cx="1965961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0D9488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4" name="Text 9"/>
          <p:cNvSpPr txBox="1"/>
          <p:nvPr/>
        </p:nvSpPr>
        <p:spPr>
          <a:xfrm>
            <a:off x="5394959" y="2327192"/>
            <a:ext cx="1965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Monitoring Stations</a:t>
            </a:r>
          </a:p>
        </p:txBody>
      </p:sp>
      <p:sp>
        <p:nvSpPr>
          <p:cNvPr id="45" name="Shape 10"/>
          <p:cNvSpPr/>
          <p:nvPr/>
        </p:nvSpPr>
        <p:spPr>
          <a:xfrm>
            <a:off x="7086600" y="1325880"/>
            <a:ext cx="1965961" cy="137160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" name="Shape 11"/>
          <p:cNvSpPr/>
          <p:nvPr/>
        </p:nvSpPr>
        <p:spPr>
          <a:xfrm>
            <a:off x="7086600" y="1325880"/>
            <a:ext cx="1965961" cy="9144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2"/>
          <p:cNvSpPr txBox="1"/>
          <p:nvPr/>
        </p:nvSpPr>
        <p:spPr>
          <a:xfrm>
            <a:off x="7086600" y="1620399"/>
            <a:ext cx="1965961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0A1628"/>
                </a:solidFill>
              </a:defRPr>
            </a:lvl1pPr>
          </a:lstStyle>
          <a:p>
            <a:pPr/>
            <a:r>
              <a:t>420,768</a:t>
            </a:r>
          </a:p>
        </p:txBody>
      </p:sp>
      <p:sp>
        <p:nvSpPr>
          <p:cNvPr id="48" name="Text 13"/>
          <p:cNvSpPr txBox="1"/>
          <p:nvPr/>
        </p:nvSpPr>
        <p:spPr>
          <a:xfrm>
            <a:off x="7086600" y="2327192"/>
            <a:ext cx="1965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Total Data Rows</a:t>
            </a:r>
          </a:p>
        </p:txBody>
      </p:sp>
      <p:sp>
        <p:nvSpPr>
          <p:cNvPr id="49" name="Shape 14"/>
          <p:cNvSpPr/>
          <p:nvPr/>
        </p:nvSpPr>
        <p:spPr>
          <a:xfrm>
            <a:off x="5394959" y="2880360"/>
            <a:ext cx="1965961" cy="137160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" name="Shape 15"/>
          <p:cNvSpPr/>
          <p:nvPr/>
        </p:nvSpPr>
        <p:spPr>
          <a:xfrm>
            <a:off x="5394959" y="2880360"/>
            <a:ext cx="1965961" cy="9144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6"/>
          <p:cNvSpPr txBox="1"/>
          <p:nvPr/>
        </p:nvSpPr>
        <p:spPr>
          <a:xfrm>
            <a:off x="5394959" y="3174879"/>
            <a:ext cx="1965961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F59E0B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2" name="Text 17"/>
          <p:cNvSpPr txBox="1"/>
          <p:nvPr/>
        </p:nvSpPr>
        <p:spPr>
          <a:xfrm>
            <a:off x="5394959" y="3881672"/>
            <a:ext cx="1965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Pollutants Tracked</a:t>
            </a:r>
          </a:p>
        </p:txBody>
      </p:sp>
      <p:sp>
        <p:nvSpPr>
          <p:cNvPr id="53" name="Shape 18"/>
          <p:cNvSpPr/>
          <p:nvPr/>
        </p:nvSpPr>
        <p:spPr>
          <a:xfrm>
            <a:off x="7086600" y="2880360"/>
            <a:ext cx="1965961" cy="137160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" name="Shape 19"/>
          <p:cNvSpPr/>
          <p:nvPr/>
        </p:nvSpPr>
        <p:spPr>
          <a:xfrm>
            <a:off x="7086600" y="2880360"/>
            <a:ext cx="1965961" cy="91441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20"/>
          <p:cNvSpPr txBox="1"/>
          <p:nvPr/>
        </p:nvSpPr>
        <p:spPr>
          <a:xfrm>
            <a:off x="7086600" y="3174879"/>
            <a:ext cx="1965961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14B8A6"/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56" name="Text 21"/>
          <p:cNvSpPr txBox="1"/>
          <p:nvPr/>
        </p:nvSpPr>
        <p:spPr>
          <a:xfrm>
            <a:off x="7086600" y="3881672"/>
            <a:ext cx="1965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Total Columns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365759" y="256031"/>
            <a:ext cx="73153" cy="29261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"/>
          <p:cNvSpPr txBox="1"/>
          <p:nvPr/>
        </p:nvSpPr>
        <p:spPr>
          <a:xfrm>
            <a:off x="548640" y="338836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D9488"/>
                </a:solidFill>
              </a:defRPr>
            </a:lvl1pPr>
          </a:lstStyle>
          <a:p>
            <a:pPr/>
            <a:r>
              <a:t>STEP 2 – DATA CLEANING</a:t>
            </a:r>
          </a:p>
        </p:txBody>
      </p:sp>
      <p:sp>
        <p:nvSpPr>
          <p:cNvPr id="60" name="Text 2"/>
          <p:cNvSpPr txBox="1"/>
          <p:nvPr/>
        </p:nvSpPr>
        <p:spPr>
          <a:xfrm>
            <a:off x="411479" y="678180"/>
            <a:ext cx="83210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Handling Missing Values &amp; Duplicate Check</a:t>
            </a:r>
          </a:p>
        </p:txBody>
      </p:sp>
      <p:sp>
        <p:nvSpPr>
          <p:cNvPr id="61" name="Shape 3"/>
          <p:cNvSpPr/>
          <p:nvPr/>
        </p:nvSpPr>
        <p:spPr>
          <a:xfrm>
            <a:off x="320040" y="1298447"/>
            <a:ext cx="5029201" cy="342900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" name="Shape 4"/>
          <p:cNvSpPr/>
          <p:nvPr/>
        </p:nvSpPr>
        <p:spPr>
          <a:xfrm>
            <a:off x="320040" y="1298447"/>
            <a:ext cx="5029201" cy="41148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5"/>
          <p:cNvSpPr txBox="1"/>
          <p:nvPr/>
        </p:nvSpPr>
        <p:spPr>
          <a:xfrm>
            <a:off x="320040" y="1425755"/>
            <a:ext cx="5029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Missing Values — PM2.5</a:t>
            </a:r>
          </a:p>
        </p:txBody>
      </p:sp>
      <p:sp>
        <p:nvSpPr>
          <p:cNvPr id="64" name="Shape 6"/>
          <p:cNvSpPr/>
          <p:nvPr/>
        </p:nvSpPr>
        <p:spPr>
          <a:xfrm>
            <a:off x="1508760" y="1874520"/>
            <a:ext cx="1280161" cy="1280161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7"/>
          <p:cNvSpPr txBox="1"/>
          <p:nvPr/>
        </p:nvSpPr>
        <p:spPr>
          <a:xfrm>
            <a:off x="1508760" y="2334701"/>
            <a:ext cx="1280161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b="1" sz="2100">
                <a:solidFill>
                  <a:srgbClr val="F59E0B"/>
                </a:solidFill>
              </a:defRPr>
            </a:lvl1pPr>
          </a:lstStyle>
          <a:p>
            <a:pPr/>
            <a:r>
              <a:t>8,739</a:t>
            </a:r>
          </a:p>
        </p:txBody>
      </p:sp>
      <p:sp>
        <p:nvSpPr>
          <p:cNvPr id="66" name="Text 8"/>
          <p:cNvSpPr txBox="1"/>
          <p:nvPr/>
        </p:nvSpPr>
        <p:spPr>
          <a:xfrm>
            <a:off x="1508760" y="2606039"/>
            <a:ext cx="12801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000">
                <a:solidFill>
                  <a:srgbClr val="F59E0B"/>
                </a:solidFill>
              </a:defRPr>
            </a:pPr>
            <a:r>
              <a:t>nulls</a:t>
            </a:r>
          </a:p>
          <a:p>
            <a:pPr algn="ctr">
              <a:defRPr sz="1000">
                <a:solidFill>
                  <a:srgbClr val="F59E0B"/>
                </a:solidFill>
              </a:defRPr>
            </a:pPr>
            <a:r>
              <a:t>detected</a:t>
            </a:r>
          </a:p>
        </p:txBody>
      </p:sp>
      <p:sp>
        <p:nvSpPr>
          <p:cNvPr id="67" name="Text 9"/>
          <p:cNvSpPr txBox="1"/>
          <p:nvPr/>
        </p:nvSpPr>
        <p:spPr>
          <a:xfrm>
            <a:off x="3108960" y="1910387"/>
            <a:ext cx="201167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A1628"/>
                </a:solidFill>
              </a:defRPr>
            </a:lvl1pPr>
          </a:lstStyle>
          <a:p>
            <a:pPr/>
            <a:r>
              <a:t>Cleaning Steps:</a:t>
            </a:r>
          </a:p>
        </p:txBody>
      </p:sp>
      <p:sp>
        <p:nvSpPr>
          <p:cNvPr id="68" name="Text 10"/>
          <p:cNvSpPr txBox="1"/>
          <p:nvPr/>
        </p:nvSpPr>
        <p:spPr>
          <a:xfrm>
            <a:off x="3108960" y="2319450"/>
            <a:ext cx="2743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9488"/>
                </a:solidFill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69" name="Text 11"/>
          <p:cNvSpPr txBox="1"/>
          <p:nvPr/>
        </p:nvSpPr>
        <p:spPr>
          <a:xfrm>
            <a:off x="3401567" y="2235498"/>
            <a:ext cx="17830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Datetime index from year/month/day/hour</a:t>
            </a:r>
          </a:p>
        </p:txBody>
      </p:sp>
      <p:sp>
        <p:nvSpPr>
          <p:cNvPr id="70" name="Text 12"/>
          <p:cNvSpPr txBox="1"/>
          <p:nvPr/>
        </p:nvSpPr>
        <p:spPr>
          <a:xfrm>
            <a:off x="3108960" y="2712642"/>
            <a:ext cx="2743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9488"/>
                </a:solidFill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71" name="Text 13"/>
          <p:cNvSpPr txBox="1"/>
          <p:nvPr/>
        </p:nvSpPr>
        <p:spPr>
          <a:xfrm>
            <a:off x="3401567" y="2628690"/>
            <a:ext cx="17830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Sorted by datetime for time-based fill</a:t>
            </a:r>
          </a:p>
        </p:txBody>
      </p:sp>
      <p:sp>
        <p:nvSpPr>
          <p:cNvPr id="72" name="Text 14"/>
          <p:cNvSpPr txBox="1"/>
          <p:nvPr/>
        </p:nvSpPr>
        <p:spPr>
          <a:xfrm>
            <a:off x="3108960" y="3105834"/>
            <a:ext cx="2743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9488"/>
                </a:solidFill>
              </a:defRPr>
            </a:lvl1pPr>
          </a:lstStyle>
          <a:p>
            <a:pPr/>
            <a:r>
              <a:t>3.</a:t>
            </a:r>
          </a:p>
        </p:txBody>
      </p:sp>
      <p:sp>
        <p:nvSpPr>
          <p:cNvPr id="73" name="Text 15"/>
          <p:cNvSpPr txBox="1"/>
          <p:nvPr/>
        </p:nvSpPr>
        <p:spPr>
          <a:xfrm>
            <a:off x="3401567" y="3021882"/>
            <a:ext cx="17830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interpolate(method="time") applied</a:t>
            </a:r>
          </a:p>
        </p:txBody>
      </p:sp>
      <p:sp>
        <p:nvSpPr>
          <p:cNvPr id="74" name="Text 16"/>
          <p:cNvSpPr txBox="1"/>
          <p:nvPr/>
        </p:nvSpPr>
        <p:spPr>
          <a:xfrm>
            <a:off x="3108960" y="3499025"/>
            <a:ext cx="2743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9488"/>
                </a:solidFill>
              </a:defRPr>
            </a:lvl1pPr>
          </a:lstStyle>
          <a:p>
            <a:pPr/>
            <a:r>
              <a:t>4.</a:t>
            </a:r>
          </a:p>
        </p:txBody>
      </p:sp>
      <p:sp>
        <p:nvSpPr>
          <p:cNvPr id="75" name="Text 17"/>
          <p:cNvSpPr txBox="1"/>
          <p:nvPr/>
        </p:nvSpPr>
        <p:spPr>
          <a:xfrm>
            <a:off x="3401567" y="3415074"/>
            <a:ext cx="17830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bfill().ffill() for remaining edge nulls</a:t>
            </a:r>
          </a:p>
        </p:txBody>
      </p:sp>
      <p:sp>
        <p:nvSpPr>
          <p:cNvPr id="76" name="Text 18"/>
          <p:cNvSpPr txBox="1"/>
          <p:nvPr/>
        </p:nvSpPr>
        <p:spPr>
          <a:xfrm>
            <a:off x="3108960" y="3892217"/>
            <a:ext cx="2743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9488"/>
                </a:solidFill>
              </a:defRPr>
            </a:lvl1pPr>
          </a:lstStyle>
          <a:p>
            <a:pPr/>
            <a:r>
              <a:t>5.</a:t>
            </a:r>
          </a:p>
        </p:txBody>
      </p:sp>
      <p:sp>
        <p:nvSpPr>
          <p:cNvPr id="77" name="Text 19"/>
          <p:cNvSpPr txBox="1"/>
          <p:nvPr/>
        </p:nvSpPr>
        <p:spPr>
          <a:xfrm>
            <a:off x="3401567" y="3890816"/>
            <a:ext cx="17830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Verified: 0 remaining nulls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✔</a:t>
            </a:r>
          </a:p>
        </p:txBody>
      </p:sp>
      <p:sp>
        <p:nvSpPr>
          <p:cNvPr id="78" name="Shape 20"/>
          <p:cNvSpPr/>
          <p:nvPr/>
        </p:nvSpPr>
        <p:spPr>
          <a:xfrm>
            <a:off x="502919" y="4132071"/>
            <a:ext cx="4663442" cy="457201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" name="Text 21"/>
          <p:cNvSpPr txBox="1"/>
          <p:nvPr/>
        </p:nvSpPr>
        <p:spPr>
          <a:xfrm>
            <a:off x="594360" y="4249291"/>
            <a:ext cx="4480560" cy="167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065F46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✔  </a:t>
            </a:r>
            <a:r>
              <a:t>After cleaning: 0 remaining null values confirmed</a:t>
            </a:r>
          </a:p>
        </p:txBody>
      </p:sp>
      <p:sp>
        <p:nvSpPr>
          <p:cNvPr id="80" name="Shape 22"/>
          <p:cNvSpPr/>
          <p:nvPr/>
        </p:nvSpPr>
        <p:spPr>
          <a:xfrm>
            <a:off x="5532120" y="1298447"/>
            <a:ext cx="3383280" cy="356616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" name="Shape 23"/>
          <p:cNvSpPr/>
          <p:nvPr/>
        </p:nvSpPr>
        <p:spPr>
          <a:xfrm>
            <a:off x="5532120" y="1298447"/>
            <a:ext cx="3383280" cy="41148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24"/>
          <p:cNvSpPr txBox="1"/>
          <p:nvPr/>
        </p:nvSpPr>
        <p:spPr>
          <a:xfrm>
            <a:off x="5532120" y="1425755"/>
            <a:ext cx="33832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Duplicate Records Check</a:t>
            </a:r>
          </a:p>
        </p:txBody>
      </p:sp>
      <p:pic>
        <p:nvPicPr>
          <p:cNvPr id="8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37959" y="1920239"/>
            <a:ext cx="1371601" cy="1371601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Text 25"/>
          <p:cNvSpPr txBox="1"/>
          <p:nvPr/>
        </p:nvSpPr>
        <p:spPr>
          <a:xfrm>
            <a:off x="5532120" y="3512628"/>
            <a:ext cx="33832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A1628"/>
                </a:solidFill>
              </a:defRPr>
            </a:lvl1pPr>
          </a:lstStyle>
          <a:p>
            <a:pPr/>
            <a:r>
              <a:t>0 Duplicates Found</a:t>
            </a:r>
          </a:p>
        </p:txBody>
      </p:sp>
      <p:sp>
        <p:nvSpPr>
          <p:cNvPr id="85" name="Text 26"/>
          <p:cNvSpPr txBox="1"/>
          <p:nvPr/>
        </p:nvSpPr>
        <p:spPr>
          <a:xfrm>
            <a:off x="5623559" y="3928793"/>
            <a:ext cx="3200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64748B"/>
                </a:solidFill>
              </a:defRPr>
            </a:lvl1pPr>
          </a:lstStyle>
          <a:p>
            <a:pPr/>
            <a:r>
              <a:t>Subset checked:</a:t>
            </a:r>
          </a:p>
        </p:txBody>
      </p:sp>
      <p:sp>
        <p:nvSpPr>
          <p:cNvPr id="86" name="Text 27"/>
          <p:cNvSpPr txBox="1"/>
          <p:nvPr/>
        </p:nvSpPr>
        <p:spPr>
          <a:xfrm>
            <a:off x="5623559" y="4317413"/>
            <a:ext cx="3200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9488"/>
                </a:solidFill>
              </a:defRPr>
            </a:lvl1pPr>
          </a:lstStyle>
          <a:p>
            <a:pPr/>
            <a:r>
              <a:t>year · month · day · hour · station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365759" y="256031"/>
            <a:ext cx="73153" cy="29261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"/>
          <p:cNvSpPr txBox="1"/>
          <p:nvPr/>
        </p:nvSpPr>
        <p:spPr>
          <a:xfrm>
            <a:off x="548640" y="338836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D9488"/>
                </a:solidFill>
              </a:defRPr>
            </a:lvl1pPr>
          </a:lstStyle>
          <a:p>
            <a:pPr/>
            <a:r>
              <a:t>STEP 3 – OUTLIER DETECTION</a:t>
            </a:r>
          </a:p>
        </p:txBody>
      </p:sp>
      <p:sp>
        <p:nvSpPr>
          <p:cNvPr id="90" name="Text 2"/>
          <p:cNvSpPr txBox="1"/>
          <p:nvPr/>
        </p:nvSpPr>
        <p:spPr>
          <a:xfrm>
            <a:off x="411479" y="678180"/>
            <a:ext cx="83210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IQR Outlier Analysis &amp; Boxplot Distribution</a:t>
            </a:r>
          </a:p>
        </p:txBody>
      </p:sp>
      <p:sp>
        <p:nvSpPr>
          <p:cNvPr id="91" name="Shape 3"/>
          <p:cNvSpPr/>
          <p:nvPr/>
        </p:nvSpPr>
        <p:spPr>
          <a:xfrm>
            <a:off x="320040" y="1298447"/>
            <a:ext cx="4114801" cy="365760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" name="Shape 4"/>
          <p:cNvSpPr/>
          <p:nvPr/>
        </p:nvSpPr>
        <p:spPr>
          <a:xfrm>
            <a:off x="320040" y="1298447"/>
            <a:ext cx="4114801" cy="41148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5"/>
          <p:cNvSpPr txBox="1"/>
          <p:nvPr/>
        </p:nvSpPr>
        <p:spPr>
          <a:xfrm>
            <a:off x="320040" y="1425755"/>
            <a:ext cx="4114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IQR Method — PM2.5 Results</a:t>
            </a:r>
          </a:p>
        </p:txBody>
      </p:sp>
      <p:sp>
        <p:nvSpPr>
          <p:cNvPr id="94" name="Shape 6"/>
          <p:cNvSpPr/>
          <p:nvPr/>
        </p:nvSpPr>
        <p:spPr>
          <a:xfrm>
            <a:off x="502919" y="1874520"/>
            <a:ext cx="3749042" cy="594361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7"/>
          <p:cNvSpPr txBox="1"/>
          <p:nvPr/>
        </p:nvSpPr>
        <p:spPr>
          <a:xfrm>
            <a:off x="640080" y="2104566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Lower Bound:</a:t>
            </a:r>
          </a:p>
        </p:txBody>
      </p:sp>
      <p:sp>
        <p:nvSpPr>
          <p:cNvPr id="96" name="Text 8"/>
          <p:cNvSpPr txBox="1"/>
          <p:nvPr/>
        </p:nvSpPr>
        <p:spPr>
          <a:xfrm>
            <a:off x="2468879" y="2078421"/>
            <a:ext cx="164592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500">
                <a:solidFill>
                  <a:srgbClr val="64748B"/>
                </a:solidFill>
              </a:defRPr>
            </a:lvl1pPr>
          </a:lstStyle>
          <a:p>
            <a:pPr/>
            <a:r>
              <a:t>-116.5</a:t>
            </a:r>
          </a:p>
        </p:txBody>
      </p:sp>
      <p:sp>
        <p:nvSpPr>
          <p:cNvPr id="97" name="Shape 9"/>
          <p:cNvSpPr/>
          <p:nvPr/>
        </p:nvSpPr>
        <p:spPr>
          <a:xfrm>
            <a:off x="502919" y="2587751"/>
            <a:ext cx="3749042" cy="594361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10"/>
          <p:cNvSpPr txBox="1"/>
          <p:nvPr/>
        </p:nvSpPr>
        <p:spPr>
          <a:xfrm>
            <a:off x="640080" y="2817797"/>
            <a:ext cx="18288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Upper Bound:</a:t>
            </a:r>
          </a:p>
        </p:txBody>
      </p:sp>
      <p:sp>
        <p:nvSpPr>
          <p:cNvPr id="99" name="Text 11"/>
          <p:cNvSpPr txBox="1"/>
          <p:nvPr/>
        </p:nvSpPr>
        <p:spPr>
          <a:xfrm>
            <a:off x="2468879" y="2791653"/>
            <a:ext cx="16459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500">
                <a:solidFill>
                  <a:srgbClr val="F59E0B"/>
                </a:solidFill>
              </a:defRPr>
            </a:lvl1pPr>
          </a:lstStyle>
          <a:p>
            <a:pPr/>
            <a:r>
              <a:t>247.5</a:t>
            </a:r>
          </a:p>
        </p:txBody>
      </p:sp>
      <p:sp>
        <p:nvSpPr>
          <p:cNvPr id="100" name="Shape 12"/>
          <p:cNvSpPr/>
          <p:nvPr/>
        </p:nvSpPr>
        <p:spPr>
          <a:xfrm>
            <a:off x="502919" y="3300984"/>
            <a:ext cx="3749042" cy="594361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3"/>
          <p:cNvSpPr txBox="1"/>
          <p:nvPr/>
        </p:nvSpPr>
        <p:spPr>
          <a:xfrm>
            <a:off x="640080" y="3531030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Outliers Found:</a:t>
            </a:r>
          </a:p>
        </p:txBody>
      </p:sp>
      <p:sp>
        <p:nvSpPr>
          <p:cNvPr id="102" name="Text 14"/>
          <p:cNvSpPr txBox="1"/>
          <p:nvPr/>
        </p:nvSpPr>
        <p:spPr>
          <a:xfrm>
            <a:off x="2468879" y="3504886"/>
            <a:ext cx="16459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500">
                <a:solidFill>
                  <a:srgbClr val="EF4444"/>
                </a:solidFill>
              </a:defRPr>
            </a:lvl1pPr>
          </a:lstStyle>
          <a:p>
            <a:pPr/>
            <a:r>
              <a:t>19,642</a:t>
            </a:r>
          </a:p>
        </p:txBody>
      </p:sp>
      <p:sp>
        <p:nvSpPr>
          <p:cNvPr id="103" name="Shape 15"/>
          <p:cNvSpPr/>
          <p:nvPr/>
        </p:nvSpPr>
        <p:spPr>
          <a:xfrm>
            <a:off x="411479" y="4021240"/>
            <a:ext cx="3931922" cy="825081"/>
          </a:xfrm>
          <a:prstGeom prst="rect">
            <a:avLst/>
          </a:prstGeom>
          <a:solidFill>
            <a:srgbClr val="FEF9EC"/>
          </a:solidFill>
          <a:ln w="63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16"/>
          <p:cNvSpPr txBox="1"/>
          <p:nvPr/>
        </p:nvSpPr>
        <p:spPr>
          <a:xfrm>
            <a:off x="548640" y="4080000"/>
            <a:ext cx="3657601" cy="154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  </a:t>
            </a:r>
            <a:r>
              <a:t>Interpretation</a:t>
            </a:r>
          </a:p>
        </p:txBody>
      </p:sp>
      <p:sp>
        <p:nvSpPr>
          <p:cNvPr id="105" name="Text 17"/>
          <p:cNvSpPr txBox="1"/>
          <p:nvPr/>
        </p:nvSpPr>
        <p:spPr>
          <a:xfrm>
            <a:off x="548639" y="4294632"/>
            <a:ext cx="3749042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334155"/>
                </a:solidFill>
              </a:defRPr>
            </a:lvl1pPr>
          </a:lstStyle>
          <a:p>
            <a:pPr/>
            <a:r>
              <a:t>The IQR method flagged a large number of outliers due to the heavily skewed nature of air pollution data and natural pollution spikes. Percentile-based filtering and domain-specific thresholds are more appropriate as they avoid misclassifying valid extreme pollution events.</a:t>
            </a:r>
          </a:p>
        </p:txBody>
      </p:sp>
      <p:pic>
        <p:nvPicPr>
          <p:cNvPr id="10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26279" y="1298447"/>
            <a:ext cx="4434842" cy="3017522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 18"/>
          <p:cNvSpPr txBox="1"/>
          <p:nvPr/>
        </p:nvSpPr>
        <p:spPr>
          <a:xfrm>
            <a:off x="4526279" y="4429804"/>
            <a:ext cx="4434842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334155"/>
                </a:solidFill>
              </a:defRPr>
            </a:lvl1pPr>
          </a:lstStyle>
          <a:p>
            <a:pPr/>
            <a:r>
              <a:t>Boxplot observations: PM2.5, PM10, NO₂, CO &amp; O₃ show occasional spikes. SO₂ is relatively stable with low spread. CO is highly skewed with extreme values reaching ~10,000 μg/m³.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365759" y="256031"/>
            <a:ext cx="73153" cy="29261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1"/>
          <p:cNvSpPr txBox="1"/>
          <p:nvPr/>
        </p:nvSpPr>
        <p:spPr>
          <a:xfrm>
            <a:off x="548640" y="338836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D9488"/>
                </a:solidFill>
              </a:defRPr>
            </a:lvl1pPr>
          </a:lstStyle>
          <a:p>
            <a:pPr/>
            <a:r>
              <a:t>STEP 4 – STATISTICAL SUMMARY</a:t>
            </a:r>
          </a:p>
        </p:txBody>
      </p:sp>
      <p:sp>
        <p:nvSpPr>
          <p:cNvPr id="111" name="Text 2"/>
          <p:cNvSpPr txBox="1"/>
          <p:nvPr/>
        </p:nvSpPr>
        <p:spPr>
          <a:xfrm>
            <a:off x="411479" y="703580"/>
            <a:ext cx="832104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PM2.5 Descriptive Statistics &amp; Station Averages</a:t>
            </a:r>
          </a:p>
        </p:txBody>
      </p:sp>
      <p:pic>
        <p:nvPicPr>
          <p:cNvPr id="11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65007" y="566927"/>
            <a:ext cx="576073" cy="576073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Shape 3"/>
          <p:cNvSpPr/>
          <p:nvPr/>
        </p:nvSpPr>
        <p:spPr>
          <a:xfrm>
            <a:off x="320039" y="1298447"/>
            <a:ext cx="1353314" cy="126187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" name="Shape 4"/>
          <p:cNvSpPr/>
          <p:nvPr/>
        </p:nvSpPr>
        <p:spPr>
          <a:xfrm>
            <a:off x="320039" y="1298447"/>
            <a:ext cx="1353314" cy="9144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5"/>
          <p:cNvSpPr txBox="1"/>
          <p:nvPr/>
        </p:nvSpPr>
        <p:spPr>
          <a:xfrm>
            <a:off x="320039" y="1582273"/>
            <a:ext cx="1353314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0D9488"/>
                </a:solidFill>
              </a:defRPr>
            </a:lvl1pPr>
          </a:lstStyle>
          <a:p>
            <a:pPr/>
            <a:r>
              <a:t>79.85</a:t>
            </a:r>
          </a:p>
        </p:txBody>
      </p:sp>
      <p:sp>
        <p:nvSpPr>
          <p:cNvPr id="116" name="Text 6"/>
          <p:cNvSpPr txBox="1"/>
          <p:nvPr/>
        </p:nvSpPr>
        <p:spPr>
          <a:xfrm>
            <a:off x="320039" y="2213355"/>
            <a:ext cx="13533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Mean (μg/m³)</a:t>
            </a:r>
          </a:p>
        </p:txBody>
      </p:sp>
      <p:sp>
        <p:nvSpPr>
          <p:cNvPr id="117" name="Shape 7"/>
          <p:cNvSpPr/>
          <p:nvPr/>
        </p:nvSpPr>
        <p:spPr>
          <a:xfrm>
            <a:off x="1719072" y="1298447"/>
            <a:ext cx="1353313" cy="126187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" name="Shape 8"/>
          <p:cNvSpPr/>
          <p:nvPr/>
        </p:nvSpPr>
        <p:spPr>
          <a:xfrm>
            <a:off x="1719072" y="1298447"/>
            <a:ext cx="1353313" cy="9144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9"/>
          <p:cNvSpPr txBox="1"/>
          <p:nvPr/>
        </p:nvSpPr>
        <p:spPr>
          <a:xfrm>
            <a:off x="1719072" y="1582273"/>
            <a:ext cx="1353313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0A1628"/>
                </a:solidFill>
              </a:defRPr>
            </a:lvl1pPr>
          </a:lstStyle>
          <a:p>
            <a:pPr/>
            <a:r>
              <a:t>55.0</a:t>
            </a:r>
          </a:p>
        </p:txBody>
      </p:sp>
      <p:sp>
        <p:nvSpPr>
          <p:cNvPr id="120" name="Text 10"/>
          <p:cNvSpPr txBox="1"/>
          <p:nvPr/>
        </p:nvSpPr>
        <p:spPr>
          <a:xfrm>
            <a:off x="1719072" y="2213355"/>
            <a:ext cx="13533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Median (μg/m³)</a:t>
            </a:r>
          </a:p>
        </p:txBody>
      </p:sp>
      <p:sp>
        <p:nvSpPr>
          <p:cNvPr id="121" name="Shape 11"/>
          <p:cNvSpPr/>
          <p:nvPr/>
        </p:nvSpPr>
        <p:spPr>
          <a:xfrm>
            <a:off x="3118104" y="1298447"/>
            <a:ext cx="1353313" cy="126187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Shape 12"/>
          <p:cNvSpPr/>
          <p:nvPr/>
        </p:nvSpPr>
        <p:spPr>
          <a:xfrm>
            <a:off x="3118104" y="1298447"/>
            <a:ext cx="1353313" cy="91441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13"/>
          <p:cNvSpPr txBox="1"/>
          <p:nvPr/>
        </p:nvSpPr>
        <p:spPr>
          <a:xfrm>
            <a:off x="3118104" y="1582273"/>
            <a:ext cx="1353313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065A82"/>
                </a:solidFill>
              </a:defRPr>
            </a:lvl1pPr>
          </a:lstStyle>
          <a:p>
            <a:pPr/>
            <a:r>
              <a:t>2.0</a:t>
            </a:r>
          </a:p>
        </p:txBody>
      </p:sp>
      <p:sp>
        <p:nvSpPr>
          <p:cNvPr id="124" name="Text 14"/>
          <p:cNvSpPr txBox="1"/>
          <p:nvPr/>
        </p:nvSpPr>
        <p:spPr>
          <a:xfrm>
            <a:off x="3118104" y="2213355"/>
            <a:ext cx="13533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Min (μg/m³)</a:t>
            </a:r>
          </a:p>
        </p:txBody>
      </p:sp>
      <p:sp>
        <p:nvSpPr>
          <p:cNvPr id="125" name="Shape 15"/>
          <p:cNvSpPr/>
          <p:nvPr/>
        </p:nvSpPr>
        <p:spPr>
          <a:xfrm>
            <a:off x="4517135" y="1298447"/>
            <a:ext cx="1353313" cy="126187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" name="Shape 16"/>
          <p:cNvSpPr/>
          <p:nvPr/>
        </p:nvSpPr>
        <p:spPr>
          <a:xfrm>
            <a:off x="4517135" y="1298447"/>
            <a:ext cx="1353313" cy="91441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17"/>
          <p:cNvSpPr txBox="1"/>
          <p:nvPr/>
        </p:nvSpPr>
        <p:spPr>
          <a:xfrm>
            <a:off x="4517135" y="1582273"/>
            <a:ext cx="1353313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EF4444"/>
                </a:solidFill>
              </a:defRPr>
            </a:lvl1pPr>
          </a:lstStyle>
          <a:p>
            <a:pPr/>
            <a:r>
              <a:t>999.0</a:t>
            </a:r>
          </a:p>
        </p:txBody>
      </p:sp>
      <p:sp>
        <p:nvSpPr>
          <p:cNvPr id="128" name="Text 18"/>
          <p:cNvSpPr txBox="1"/>
          <p:nvPr/>
        </p:nvSpPr>
        <p:spPr>
          <a:xfrm>
            <a:off x="4517135" y="2213355"/>
            <a:ext cx="13533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Max (μg/m³)</a:t>
            </a:r>
          </a:p>
        </p:txBody>
      </p:sp>
      <p:sp>
        <p:nvSpPr>
          <p:cNvPr id="129" name="Shape 19"/>
          <p:cNvSpPr/>
          <p:nvPr/>
        </p:nvSpPr>
        <p:spPr>
          <a:xfrm>
            <a:off x="5916167" y="1298447"/>
            <a:ext cx="1353314" cy="126187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Shape 20"/>
          <p:cNvSpPr/>
          <p:nvPr/>
        </p:nvSpPr>
        <p:spPr>
          <a:xfrm>
            <a:off x="5916167" y="1298447"/>
            <a:ext cx="1353314" cy="9144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21"/>
          <p:cNvSpPr txBox="1"/>
          <p:nvPr/>
        </p:nvSpPr>
        <p:spPr>
          <a:xfrm>
            <a:off x="5916167" y="1608417"/>
            <a:ext cx="1353314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59E0B"/>
                </a:solidFill>
              </a:defRPr>
            </a:lvl1pPr>
          </a:lstStyle>
          <a:p>
            <a:pPr/>
            <a:r>
              <a:t>81.08</a:t>
            </a:r>
          </a:p>
        </p:txBody>
      </p:sp>
      <p:sp>
        <p:nvSpPr>
          <p:cNvPr id="132" name="Text 22"/>
          <p:cNvSpPr txBox="1"/>
          <p:nvPr/>
        </p:nvSpPr>
        <p:spPr>
          <a:xfrm>
            <a:off x="5916167" y="2213355"/>
            <a:ext cx="13533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Std Dev</a:t>
            </a:r>
          </a:p>
        </p:txBody>
      </p:sp>
      <p:sp>
        <p:nvSpPr>
          <p:cNvPr id="133" name="Shape 23"/>
          <p:cNvSpPr/>
          <p:nvPr/>
        </p:nvSpPr>
        <p:spPr>
          <a:xfrm>
            <a:off x="7315200" y="1298447"/>
            <a:ext cx="1353313" cy="126187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" name="Shape 24"/>
          <p:cNvSpPr/>
          <p:nvPr/>
        </p:nvSpPr>
        <p:spPr>
          <a:xfrm>
            <a:off x="7315200" y="1298447"/>
            <a:ext cx="1353313" cy="91441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25"/>
          <p:cNvSpPr txBox="1"/>
          <p:nvPr/>
        </p:nvSpPr>
        <p:spPr>
          <a:xfrm>
            <a:off x="7315200" y="1608417"/>
            <a:ext cx="135331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4B8A6"/>
                </a:solidFill>
              </a:defRPr>
            </a:lvl1pPr>
          </a:lstStyle>
          <a:p>
            <a:pPr/>
            <a:r>
              <a:t>8,739</a:t>
            </a:r>
          </a:p>
        </p:txBody>
      </p:sp>
      <p:sp>
        <p:nvSpPr>
          <p:cNvPr id="136" name="Text 26"/>
          <p:cNvSpPr txBox="1"/>
          <p:nvPr/>
        </p:nvSpPr>
        <p:spPr>
          <a:xfrm>
            <a:off x="7315200" y="2213355"/>
            <a:ext cx="13533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Nulls (cleaned)</a:t>
            </a:r>
          </a:p>
        </p:txBody>
      </p:sp>
      <p:pic>
        <p:nvPicPr>
          <p:cNvPr id="13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0040" y="2697479"/>
            <a:ext cx="8503920" cy="23317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365759" y="256031"/>
            <a:ext cx="73153" cy="29261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"/>
          <p:cNvSpPr txBox="1"/>
          <p:nvPr/>
        </p:nvSpPr>
        <p:spPr>
          <a:xfrm>
            <a:off x="548640" y="338836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D9488"/>
                </a:solidFill>
              </a:defRPr>
            </a:lvl1pPr>
          </a:lstStyle>
          <a:p>
            <a:pPr/>
            <a:r>
              <a:t>STEP 5A - WEEKLY TREND</a:t>
            </a:r>
          </a:p>
        </p:txBody>
      </p:sp>
      <p:sp>
        <p:nvSpPr>
          <p:cNvPr id="141" name="Text 2"/>
          <p:cNvSpPr txBox="1"/>
          <p:nvPr/>
        </p:nvSpPr>
        <p:spPr>
          <a:xfrm>
            <a:off x="411479" y="678180"/>
            <a:ext cx="83210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Weekly Average PM2.5 Trend (2013-2017)</a:t>
            </a:r>
          </a:p>
        </p:txBody>
      </p:sp>
      <p:pic>
        <p:nvPicPr>
          <p:cNvPr id="14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65007" y="566927"/>
            <a:ext cx="576073" cy="5760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0040" y="1234439"/>
            <a:ext cx="8503920" cy="2788922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Shape 3"/>
          <p:cNvSpPr/>
          <p:nvPr/>
        </p:nvSpPr>
        <p:spPr>
          <a:xfrm>
            <a:off x="320040" y="4133088"/>
            <a:ext cx="8503920" cy="914401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Text 4"/>
          <p:cNvSpPr txBox="1"/>
          <p:nvPr/>
        </p:nvSpPr>
        <p:spPr>
          <a:xfrm>
            <a:off x="502919" y="4248834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4B8A6"/>
                </a:solidFill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46" name="Text 5"/>
          <p:cNvSpPr txBox="1"/>
          <p:nvPr/>
        </p:nvSpPr>
        <p:spPr>
          <a:xfrm>
            <a:off x="502919" y="4471415"/>
            <a:ext cx="822960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PM2.5 shows clear seasonal cyclicality across all 4 years. Winter months (Dec-Feb) consistently spike above 150 ug/m3 due to coal heating and atmospheric inversion, while summer months drop to 40-60 ug/m3. Notable extreme spikes appear in late 2015 and early 2016. No long-term improvement trend is visible over the 2013-2017 period.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365759" y="256031"/>
            <a:ext cx="73153" cy="29261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1"/>
          <p:cNvSpPr txBox="1"/>
          <p:nvPr/>
        </p:nvSpPr>
        <p:spPr>
          <a:xfrm>
            <a:off x="548640" y="338836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D9488"/>
                </a:solidFill>
              </a:defRPr>
            </a:lvl1pPr>
          </a:lstStyle>
          <a:p>
            <a:pPr/>
            <a:r>
              <a:t>STEP 5B - DISTRIBUTION ANALYSIS</a:t>
            </a:r>
          </a:p>
        </p:txBody>
      </p:sp>
      <p:sp>
        <p:nvSpPr>
          <p:cNvPr id="150" name="Text 2"/>
          <p:cNvSpPr txBox="1"/>
          <p:nvPr/>
        </p:nvSpPr>
        <p:spPr>
          <a:xfrm>
            <a:off x="411479" y="703580"/>
            <a:ext cx="832104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PM2.5 Histogram — Frequency Distribution</a:t>
            </a:r>
          </a:p>
        </p:txBody>
      </p:sp>
      <p:pic>
        <p:nvPicPr>
          <p:cNvPr id="15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65007" y="566927"/>
            <a:ext cx="576073" cy="5760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234439"/>
            <a:ext cx="6400800" cy="2788922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Shape 3"/>
          <p:cNvSpPr/>
          <p:nvPr/>
        </p:nvSpPr>
        <p:spPr>
          <a:xfrm>
            <a:off x="320040" y="4133088"/>
            <a:ext cx="8503920" cy="914401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" name="Text 4"/>
          <p:cNvSpPr txBox="1"/>
          <p:nvPr/>
        </p:nvSpPr>
        <p:spPr>
          <a:xfrm>
            <a:off x="502919" y="4248834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4B8A6"/>
                </a:solidFill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55" name="Text 5"/>
          <p:cNvSpPr txBox="1"/>
          <p:nvPr/>
        </p:nvSpPr>
        <p:spPr>
          <a:xfrm>
            <a:off x="502919" y="4471415"/>
            <a:ext cx="822960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The distribution is heavily right-skewed. Most hourly readings fall between 0-200 ug/m3, but a long tail extends to 999.0 ug/m3. The mean (79.85) is significantly higher than the median (55.0), confirming skew from infrequent but extreme pollution events. This skewness explains why IQR-based outlier detection over-flags valid data points as outliers.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365759" y="256031"/>
            <a:ext cx="73153" cy="29261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"/>
          <p:cNvSpPr txBox="1"/>
          <p:nvPr/>
        </p:nvSpPr>
        <p:spPr>
          <a:xfrm>
            <a:off x="548640" y="338836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D9488"/>
                </a:solidFill>
              </a:defRPr>
            </a:lvl1pPr>
          </a:lstStyle>
          <a:p>
            <a:pPr/>
            <a:r>
              <a:t>STEP 5C - CORRELATION ANALYSIS</a:t>
            </a:r>
          </a:p>
        </p:txBody>
      </p:sp>
      <p:sp>
        <p:nvSpPr>
          <p:cNvPr id="159" name="Text 2"/>
          <p:cNvSpPr txBox="1"/>
          <p:nvPr/>
        </p:nvSpPr>
        <p:spPr>
          <a:xfrm>
            <a:off x="411479" y="703580"/>
            <a:ext cx="832104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Correlation Heatmap — Pollutants &amp; Meteorology</a:t>
            </a:r>
          </a:p>
        </p:txBody>
      </p:sp>
      <p:pic>
        <p:nvPicPr>
          <p:cNvPr id="16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30768" y="502919"/>
            <a:ext cx="502921" cy="502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0040" y="1234439"/>
            <a:ext cx="4663441" cy="2788922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Shape 3"/>
          <p:cNvSpPr/>
          <p:nvPr/>
        </p:nvSpPr>
        <p:spPr>
          <a:xfrm>
            <a:off x="5120640" y="1234439"/>
            <a:ext cx="3703321" cy="278892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Shape 4"/>
          <p:cNvSpPr/>
          <p:nvPr/>
        </p:nvSpPr>
        <p:spPr>
          <a:xfrm>
            <a:off x="5120640" y="1234439"/>
            <a:ext cx="3703321" cy="38404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5"/>
          <p:cNvSpPr txBox="1"/>
          <p:nvPr/>
        </p:nvSpPr>
        <p:spPr>
          <a:xfrm>
            <a:off x="5120640" y="1359330"/>
            <a:ext cx="37033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Key Correlations with PM2.5</a:t>
            </a:r>
          </a:p>
        </p:txBody>
      </p:sp>
      <p:sp>
        <p:nvSpPr>
          <p:cNvPr id="165" name="Shape 6"/>
          <p:cNvSpPr/>
          <p:nvPr/>
        </p:nvSpPr>
        <p:spPr>
          <a:xfrm>
            <a:off x="5120640" y="1719072"/>
            <a:ext cx="3703321" cy="292609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7"/>
          <p:cNvSpPr txBox="1"/>
          <p:nvPr/>
        </p:nvSpPr>
        <p:spPr>
          <a:xfrm>
            <a:off x="5230367" y="1806448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PM2.5 / PM10</a:t>
            </a:r>
          </a:p>
        </p:txBody>
      </p:sp>
      <p:sp>
        <p:nvSpPr>
          <p:cNvPr id="167" name="Text 8"/>
          <p:cNvSpPr txBox="1"/>
          <p:nvPr/>
        </p:nvSpPr>
        <p:spPr>
          <a:xfrm>
            <a:off x="6803135" y="1801412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EF4444"/>
                </a:solidFill>
              </a:defRPr>
            </a:lvl1pPr>
          </a:lstStyle>
          <a:p>
            <a:pPr/>
            <a:r>
              <a:t>+0.88</a:t>
            </a:r>
          </a:p>
        </p:txBody>
      </p:sp>
      <p:sp>
        <p:nvSpPr>
          <p:cNvPr id="168" name="Text 9"/>
          <p:cNvSpPr txBox="1"/>
          <p:nvPr/>
        </p:nvSpPr>
        <p:spPr>
          <a:xfrm>
            <a:off x="7370064" y="1754159"/>
            <a:ext cx="137160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Very strong - shared combustion &amp; dust</a:t>
            </a:r>
          </a:p>
        </p:txBody>
      </p:sp>
      <p:sp>
        <p:nvSpPr>
          <p:cNvPr id="169" name="Shape 10"/>
          <p:cNvSpPr/>
          <p:nvPr/>
        </p:nvSpPr>
        <p:spPr>
          <a:xfrm>
            <a:off x="5120640" y="2039111"/>
            <a:ext cx="3703321" cy="29260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1"/>
          <p:cNvSpPr txBox="1"/>
          <p:nvPr/>
        </p:nvSpPr>
        <p:spPr>
          <a:xfrm>
            <a:off x="5230367" y="2126488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PM2.5 / CO</a:t>
            </a:r>
          </a:p>
        </p:txBody>
      </p:sp>
      <p:sp>
        <p:nvSpPr>
          <p:cNvPr id="171" name="Text 12"/>
          <p:cNvSpPr txBox="1"/>
          <p:nvPr/>
        </p:nvSpPr>
        <p:spPr>
          <a:xfrm>
            <a:off x="6803135" y="2121452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EF4444"/>
                </a:solidFill>
              </a:defRPr>
            </a:lvl1pPr>
          </a:lstStyle>
          <a:p>
            <a:pPr/>
            <a:r>
              <a:t>+0.79</a:t>
            </a:r>
          </a:p>
        </p:txBody>
      </p:sp>
      <p:sp>
        <p:nvSpPr>
          <p:cNvPr id="172" name="Text 13"/>
          <p:cNvSpPr txBox="1"/>
          <p:nvPr/>
        </p:nvSpPr>
        <p:spPr>
          <a:xfrm>
            <a:off x="7370064" y="2074199"/>
            <a:ext cx="137160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Strong - both from combustion sources</a:t>
            </a:r>
          </a:p>
        </p:txBody>
      </p:sp>
      <p:sp>
        <p:nvSpPr>
          <p:cNvPr id="173" name="Shape 14"/>
          <p:cNvSpPr/>
          <p:nvPr/>
        </p:nvSpPr>
        <p:spPr>
          <a:xfrm>
            <a:off x="5120640" y="2359151"/>
            <a:ext cx="3703321" cy="292609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15"/>
          <p:cNvSpPr txBox="1"/>
          <p:nvPr/>
        </p:nvSpPr>
        <p:spPr>
          <a:xfrm>
            <a:off x="5230367" y="2446527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PM2.5 / NO2</a:t>
            </a:r>
          </a:p>
        </p:txBody>
      </p:sp>
      <p:sp>
        <p:nvSpPr>
          <p:cNvPr id="175" name="Text 16"/>
          <p:cNvSpPr txBox="1"/>
          <p:nvPr/>
        </p:nvSpPr>
        <p:spPr>
          <a:xfrm>
            <a:off x="6803135" y="2441492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59E0B"/>
                </a:solidFill>
              </a:defRPr>
            </a:lvl1pPr>
          </a:lstStyle>
          <a:p>
            <a:pPr/>
            <a:r>
              <a:t>+0.67</a:t>
            </a:r>
          </a:p>
        </p:txBody>
      </p:sp>
      <p:sp>
        <p:nvSpPr>
          <p:cNvPr id="176" name="Text 17"/>
          <p:cNvSpPr txBox="1"/>
          <p:nvPr/>
        </p:nvSpPr>
        <p:spPr>
          <a:xfrm>
            <a:off x="7370064" y="2394239"/>
            <a:ext cx="137160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Moderate - traffic &amp; industry overlap</a:t>
            </a:r>
          </a:p>
        </p:txBody>
      </p:sp>
      <p:sp>
        <p:nvSpPr>
          <p:cNvPr id="177" name="Shape 18"/>
          <p:cNvSpPr/>
          <p:nvPr/>
        </p:nvSpPr>
        <p:spPr>
          <a:xfrm>
            <a:off x="5120640" y="2679192"/>
            <a:ext cx="3703321" cy="29260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9"/>
          <p:cNvSpPr txBox="1"/>
          <p:nvPr/>
        </p:nvSpPr>
        <p:spPr>
          <a:xfrm>
            <a:off x="5230367" y="2766567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PM2.5 / SO2</a:t>
            </a:r>
          </a:p>
        </p:txBody>
      </p:sp>
      <p:sp>
        <p:nvSpPr>
          <p:cNvPr id="179" name="Text 20"/>
          <p:cNvSpPr txBox="1"/>
          <p:nvPr/>
        </p:nvSpPr>
        <p:spPr>
          <a:xfrm>
            <a:off x="6803135" y="2761532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59E0B"/>
                </a:solidFill>
              </a:defRPr>
            </a:lvl1pPr>
          </a:lstStyle>
          <a:p>
            <a:pPr/>
            <a:r>
              <a:t>+0.48</a:t>
            </a:r>
          </a:p>
        </p:txBody>
      </p:sp>
      <p:sp>
        <p:nvSpPr>
          <p:cNvPr id="180" name="Text 21"/>
          <p:cNvSpPr txBox="1"/>
          <p:nvPr/>
        </p:nvSpPr>
        <p:spPr>
          <a:xfrm>
            <a:off x="7370064" y="2714279"/>
            <a:ext cx="137160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Moderate - coal burning contribution</a:t>
            </a:r>
          </a:p>
        </p:txBody>
      </p:sp>
      <p:sp>
        <p:nvSpPr>
          <p:cNvPr id="181" name="Shape 22"/>
          <p:cNvSpPr/>
          <p:nvPr/>
        </p:nvSpPr>
        <p:spPr>
          <a:xfrm>
            <a:off x="5120640" y="2999232"/>
            <a:ext cx="3703321" cy="292609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23"/>
          <p:cNvSpPr txBox="1"/>
          <p:nvPr/>
        </p:nvSpPr>
        <p:spPr>
          <a:xfrm>
            <a:off x="5230367" y="3086607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PM2.5 / O3</a:t>
            </a:r>
          </a:p>
        </p:txBody>
      </p:sp>
      <p:sp>
        <p:nvSpPr>
          <p:cNvPr id="183" name="Text 24"/>
          <p:cNvSpPr txBox="1"/>
          <p:nvPr/>
        </p:nvSpPr>
        <p:spPr>
          <a:xfrm>
            <a:off x="6803135" y="3081572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64748B"/>
                </a:solidFill>
              </a:defRPr>
            </a:lvl1pPr>
          </a:lstStyle>
          <a:p>
            <a:pPr/>
            <a:r>
              <a:t>-0.15</a:t>
            </a:r>
          </a:p>
        </p:txBody>
      </p:sp>
      <p:sp>
        <p:nvSpPr>
          <p:cNvPr id="184" name="Text 25"/>
          <p:cNvSpPr txBox="1"/>
          <p:nvPr/>
        </p:nvSpPr>
        <p:spPr>
          <a:xfrm>
            <a:off x="7370064" y="3034319"/>
            <a:ext cx="137160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Weak negative - photochemical inverse</a:t>
            </a:r>
          </a:p>
        </p:txBody>
      </p:sp>
      <p:sp>
        <p:nvSpPr>
          <p:cNvPr id="185" name="Shape 26"/>
          <p:cNvSpPr/>
          <p:nvPr/>
        </p:nvSpPr>
        <p:spPr>
          <a:xfrm>
            <a:off x="5120640" y="3319271"/>
            <a:ext cx="3703321" cy="29260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27"/>
          <p:cNvSpPr txBox="1"/>
          <p:nvPr/>
        </p:nvSpPr>
        <p:spPr>
          <a:xfrm>
            <a:off x="5230367" y="3406647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PM2.5 / WSPM</a:t>
            </a:r>
          </a:p>
        </p:txBody>
      </p:sp>
      <p:sp>
        <p:nvSpPr>
          <p:cNvPr id="187" name="Text 28"/>
          <p:cNvSpPr txBox="1"/>
          <p:nvPr/>
        </p:nvSpPr>
        <p:spPr>
          <a:xfrm>
            <a:off x="6803135" y="3401612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D9488"/>
                </a:solidFill>
              </a:defRPr>
            </a:lvl1pPr>
          </a:lstStyle>
          <a:p>
            <a:pPr/>
            <a:r>
              <a:t>-0.27</a:t>
            </a:r>
          </a:p>
        </p:txBody>
      </p:sp>
      <p:sp>
        <p:nvSpPr>
          <p:cNvPr id="188" name="Text 29"/>
          <p:cNvSpPr txBox="1"/>
          <p:nvPr/>
        </p:nvSpPr>
        <p:spPr>
          <a:xfrm>
            <a:off x="7370064" y="3354359"/>
            <a:ext cx="137160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Wind disperses surface pollutants</a:t>
            </a:r>
          </a:p>
        </p:txBody>
      </p:sp>
      <p:sp>
        <p:nvSpPr>
          <p:cNvPr id="189" name="Shape 30"/>
          <p:cNvSpPr/>
          <p:nvPr/>
        </p:nvSpPr>
        <p:spPr>
          <a:xfrm>
            <a:off x="5120640" y="3639311"/>
            <a:ext cx="3703321" cy="292609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31"/>
          <p:cNvSpPr txBox="1"/>
          <p:nvPr/>
        </p:nvSpPr>
        <p:spPr>
          <a:xfrm>
            <a:off x="5230367" y="3726688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PM2.5 / TEMP</a:t>
            </a:r>
          </a:p>
        </p:txBody>
      </p:sp>
      <p:sp>
        <p:nvSpPr>
          <p:cNvPr id="191" name="Text 32"/>
          <p:cNvSpPr txBox="1"/>
          <p:nvPr/>
        </p:nvSpPr>
        <p:spPr>
          <a:xfrm>
            <a:off x="6803135" y="3721652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D9488"/>
                </a:solidFill>
              </a:defRPr>
            </a:lvl1pPr>
          </a:lstStyle>
          <a:p>
            <a:pPr/>
            <a:r>
              <a:t>-0.13</a:t>
            </a:r>
          </a:p>
        </p:txBody>
      </p:sp>
      <p:sp>
        <p:nvSpPr>
          <p:cNvPr id="192" name="Text 33"/>
          <p:cNvSpPr txBox="1"/>
          <p:nvPr/>
        </p:nvSpPr>
        <p:spPr>
          <a:xfrm>
            <a:off x="7370064" y="3674399"/>
            <a:ext cx="137160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Warmer air reduces stagnant buildup</a:t>
            </a:r>
          </a:p>
        </p:txBody>
      </p:sp>
      <p:sp>
        <p:nvSpPr>
          <p:cNvPr id="193" name="Shape 34"/>
          <p:cNvSpPr/>
          <p:nvPr/>
        </p:nvSpPr>
        <p:spPr>
          <a:xfrm>
            <a:off x="320040" y="4133088"/>
            <a:ext cx="8503920" cy="914401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" name="Text 35"/>
          <p:cNvSpPr txBox="1"/>
          <p:nvPr/>
        </p:nvSpPr>
        <p:spPr>
          <a:xfrm>
            <a:off x="502919" y="4248834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4B8A6"/>
                </a:solidFill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95" name="Text 36"/>
          <p:cNvSpPr txBox="1"/>
          <p:nvPr/>
        </p:nvSpPr>
        <p:spPr>
          <a:xfrm>
            <a:off x="502919" y="4471415"/>
            <a:ext cx="822960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PM2.5 is most strongly correlated with PM10 (0.88) and CO (0.79), confirming shared combustion and dust sources. Wind speed (-0.27) and temperature (-0.13) show negative correlations - higher wind and warmer conditions reduce accumulation. O3 shows a weak negative correlation (-0.15), consistent with photochemical formation being suppressed by high particle loading.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2"/>
          <p:cNvSpPr txBox="1"/>
          <p:nvPr/>
        </p:nvSpPr>
        <p:spPr>
          <a:xfrm>
            <a:off x="411479" y="2298700"/>
            <a:ext cx="832104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Thank You !!!</a:t>
            </a:r>
          </a:p>
        </p:txBody>
      </p:sp>
      <p:sp>
        <p:nvSpPr>
          <p:cNvPr id="198" name="Shape 27"/>
          <p:cNvSpPr/>
          <p:nvPr/>
        </p:nvSpPr>
        <p:spPr>
          <a:xfrm>
            <a:off x="0" y="4818888"/>
            <a:ext cx="9144000" cy="32004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28"/>
          <p:cNvSpPr txBox="1"/>
          <p:nvPr/>
        </p:nvSpPr>
        <p:spPr>
          <a:xfrm>
            <a:off x="0" y="491540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Air Quality Analysis  Beijing 12-Station Dataset  420,768 Records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