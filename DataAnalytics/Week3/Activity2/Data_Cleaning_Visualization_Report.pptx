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62155"/>
          </a:solidFill>
          <a:ln w="12700">
            <a:solidFill>
              <a:srgbClr val="162155"/>
            </a:solidFill>
            <a:prstDash val="solid"/>
          </a:ln>
        </p:spPr>
      </p:sp>
      <p:sp>
        <p:nvSpPr>
          <p:cNvPr id="3" name="Text 1"/>
          <p:cNvSpPr/>
          <p:nvPr/>
        </p:nvSpPr>
        <p:spPr>
          <a:xfrm>
            <a:off x="640080" y="548640"/>
            <a:ext cx="7863840" cy="82296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Data Cleaning &amp;</a:t>
            </a:r>
            <a:endParaRPr lang="en-US" sz="4400" dirty="0"/>
          </a:p>
        </p:txBody>
      </p:sp>
      <p:sp>
        <p:nvSpPr>
          <p:cNvPr id="4" name="Text 2"/>
          <p:cNvSpPr/>
          <p:nvPr/>
        </p:nvSpPr>
        <p:spPr>
          <a:xfrm>
            <a:off x="640080" y="1325880"/>
            <a:ext cx="7863840" cy="822960"/>
          </a:xfrm>
          <a:prstGeom prst="rect">
            <a:avLst/>
          </a:prstGeom>
          <a:noFill/>
          <a:ln/>
        </p:spPr>
        <p:txBody>
          <a:bodyPr wrap="square" rtlCol="0" anchor="ctr"/>
          <a:lstStyle/>
          <a:p>
            <a:pPr algn="ctr" indent="0" marL="0">
              <a:buNone/>
            </a:pPr>
            <a:r>
              <a:rPr lang="en-US" sz="4400" b="1" dirty="0">
                <a:solidFill>
                  <a:srgbClr val="8AB4F8"/>
                </a:solidFill>
                <a:latin typeface="Calibri" pitchFamily="34" charset="0"/>
                <a:ea typeface="Calibri" pitchFamily="34" charset="-122"/>
                <a:cs typeface="Calibri" pitchFamily="34" charset="-120"/>
              </a:rPr>
              <a:t>Visualization Insights</a:t>
            </a:r>
            <a:endParaRPr lang="en-US" sz="4400" dirty="0"/>
          </a:p>
        </p:txBody>
      </p:sp>
      <p:sp>
        <p:nvSpPr>
          <p:cNvPr id="5" name="Text 3"/>
          <p:cNvSpPr/>
          <p:nvPr/>
        </p:nvSpPr>
        <p:spPr>
          <a:xfrm>
            <a:off x="640080" y="2331720"/>
            <a:ext cx="7863840" cy="457200"/>
          </a:xfrm>
          <a:prstGeom prst="rect">
            <a:avLst/>
          </a:prstGeom>
          <a:noFill/>
          <a:ln/>
        </p:spPr>
        <p:txBody>
          <a:bodyPr wrap="square" rtlCol="0" anchor="ctr"/>
          <a:lstStyle/>
          <a:p>
            <a:pPr algn="ctr" indent="0" marL="0">
              <a:buNone/>
            </a:pPr>
            <a:r>
              <a:rPr lang="en-US" sz="2000" i="1" dirty="0">
                <a:solidFill>
                  <a:srgbClr val="CADCFC"/>
                </a:solidFill>
                <a:latin typeface="Calibri" pitchFamily="34" charset="0"/>
                <a:ea typeface="Calibri" pitchFamily="34" charset="-122"/>
                <a:cs typeface="Calibri" pitchFamily="34" charset="-120"/>
              </a:rPr>
              <a:t>Employee Dataset Analysis Report</a:t>
            </a:r>
            <a:endParaRPr lang="en-US" sz="2000" dirty="0"/>
          </a:p>
        </p:txBody>
      </p:sp>
      <p:sp>
        <p:nvSpPr>
          <p:cNvPr id="6" name="Text 4"/>
          <p:cNvSpPr/>
          <p:nvPr/>
        </p:nvSpPr>
        <p:spPr>
          <a:xfrm>
            <a:off x="640080" y="3611880"/>
            <a:ext cx="7863840" cy="411480"/>
          </a:xfrm>
          <a:prstGeom prst="rect">
            <a:avLst/>
          </a:prstGeom>
          <a:noFill/>
          <a:ln/>
        </p:spPr>
        <p:txBody>
          <a:bodyPr wrap="square" rtlCol="0" anchor="ctr"/>
          <a:lstStyle/>
          <a:p>
            <a:pPr algn="ctr" indent="0" marL="0">
              <a:buNone/>
            </a:pPr>
            <a:r>
              <a:rPr lang="en-US" sz="1300" b="1" dirty="0">
                <a:solidFill>
                  <a:srgbClr val="A0C0FF"/>
                </a:solidFill>
                <a:latin typeface="Calibri" pitchFamily="34" charset="0"/>
                <a:ea typeface="Calibri" pitchFamily="34" charset="-122"/>
                <a:cs typeface="Calibri" pitchFamily="34" charset="-120"/>
              </a:rPr>
              <a:t>Tools: </a:t>
            </a:r>
            <a:pPr algn="ctr" indent="0" marL="0">
              <a:buNone/>
            </a:pPr>
            <a:r>
              <a:rPr lang="en-US" sz="1300" dirty="0">
                <a:solidFill>
                  <a:srgbClr val="A0C0FF"/>
                </a:solidFill>
                <a:latin typeface="Calibri" pitchFamily="34" charset="0"/>
                <a:ea typeface="Calibri" pitchFamily="34" charset="-122"/>
                <a:cs typeface="Calibri" pitchFamily="34" charset="-120"/>
              </a:rPr>
              <a:t>Python  •  Pandas  •  Matplotlib  •  Seaborn  •  SciPy</a:t>
            </a:r>
            <a:endParaRPr lang="en-US" sz="1300" dirty="0"/>
          </a:p>
        </p:txBody>
      </p:sp>
      <p:sp>
        <p:nvSpPr>
          <p:cNvPr id="7" name="Text 5"/>
          <p:cNvSpPr/>
          <p:nvPr/>
        </p:nvSpPr>
        <p:spPr>
          <a:xfrm>
            <a:off x="640080" y="4069080"/>
            <a:ext cx="7863840" cy="365760"/>
          </a:xfrm>
          <a:prstGeom prst="rect">
            <a:avLst/>
          </a:prstGeom>
          <a:noFill/>
          <a:ln/>
        </p:spPr>
        <p:txBody>
          <a:bodyPr wrap="square" rtlCol="0" anchor="ctr"/>
          <a:lstStyle/>
          <a:p>
            <a:pPr algn="ctr" indent="0" marL="0">
              <a:buNone/>
            </a:pPr>
            <a:r>
              <a:rPr lang="en-US" sz="1300" b="1" dirty="0">
                <a:solidFill>
                  <a:srgbClr val="A0C0FF"/>
                </a:solidFill>
                <a:latin typeface="Calibri" pitchFamily="34" charset="0"/>
                <a:ea typeface="Calibri" pitchFamily="34" charset="-122"/>
                <a:cs typeface="Calibri" pitchFamily="34" charset="-120"/>
              </a:rPr>
              <a:t>Topics: </a:t>
            </a:r>
            <a:pPr algn="ctr" indent="0" marL="0">
              <a:buNone/>
            </a:pPr>
            <a:r>
              <a:rPr lang="en-US" sz="1300" dirty="0">
                <a:solidFill>
                  <a:srgbClr val="A0C0FF"/>
                </a:solidFill>
                <a:latin typeface="Calibri" pitchFamily="34" charset="0"/>
                <a:ea typeface="Calibri" pitchFamily="34" charset="-122"/>
                <a:cs typeface="Calibri" pitchFamily="34" charset="-120"/>
              </a:rPr>
              <a:t>Data Cleaning  •  Visualizations  •  Correlation (Pearson)  •  Outlier Detection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Dataset Overview</a:t>
            </a:r>
            <a:endParaRPr lang="en-US" sz="2400" dirty="0"/>
          </a:p>
        </p:txBody>
      </p:sp>
      <p:sp>
        <p:nvSpPr>
          <p:cNvPr id="4" name="Text 2"/>
          <p:cNvSpPr/>
          <p:nvPr/>
        </p:nvSpPr>
        <p:spPr>
          <a:xfrm>
            <a:off x="274320" y="822960"/>
            <a:ext cx="8595360" cy="457200"/>
          </a:xfrm>
          <a:prstGeom prst="rect">
            <a:avLst/>
          </a:prstGeom>
          <a:noFill/>
          <a:ln/>
        </p:spPr>
        <p:txBody>
          <a:bodyPr wrap="square" rtlCol="0" anchor="ctr"/>
          <a:lstStyle/>
          <a:p>
            <a:pPr indent="0" marL="0">
              <a:buNone/>
            </a:pPr>
            <a:r>
              <a:rPr lang="en-US" sz="1300" dirty="0">
                <a:solidFill>
                  <a:srgbClr val="475569"/>
                </a:solidFill>
                <a:latin typeface="Calibri" pitchFamily="34" charset="0"/>
                <a:ea typeface="Calibri" pitchFamily="34" charset="-122"/>
                <a:cs typeface="Calibri" pitchFamily="34" charset="-120"/>
              </a:rPr>
              <a:t>The raw dataset contains employee records with various data quality issues that need to be identified and resolved before analysis.</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1325880"/>
          <a:ext cx="8595360" cy="3520440"/>
        </p:xfrm>
        <a:graphic>
          <a:graphicData uri="http://schemas.openxmlformats.org/drawingml/2006/table">
            <a:tbl>
              <a:tblPr/>
              <a:tblGrid>
                <a:gridCol w="640080"/>
                <a:gridCol w="1371600"/>
                <a:gridCol w="1463040"/>
                <a:gridCol w="1188720"/>
                <a:gridCol w="1737360"/>
                <a:gridCol w="2194560"/>
              </a:tblGrid>
              <a:tr h="30175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Age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Salary</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Join Date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30175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Alice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55,000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15/01/2020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01752">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Bob</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60,000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20/02/2020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01752">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Bob</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20/02/2020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0175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Charlie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AUS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72,000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0175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David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thirty-eight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68,000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1/11/2019</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01752">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Eve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AU</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59,000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2019-13-01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0175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sixty five thousand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30/05/2018</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0175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Grace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64,000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25/07/2021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0175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Heidi</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AUS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E74C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25/07/2021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01752">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Ivan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58,000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15/03/2019</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274320" y="4846320"/>
            <a:ext cx="8595360" cy="274320"/>
          </a:xfrm>
          <a:prstGeom prst="rect">
            <a:avLst/>
          </a:prstGeom>
          <a:noFill/>
          <a:ln/>
        </p:spPr>
        <p:txBody>
          <a:bodyPr wrap="square" rtlCol="0" anchor="ctr"/>
          <a:lstStyle/>
          <a:p>
            <a:pPr indent="0" marL="0">
              <a:buNone/>
            </a:pPr>
            <a:r>
              <a:rPr lang="en-US" sz="1100" b="1" i="1" dirty="0">
                <a:solidFill>
                  <a:srgbClr val="E74C3C"/>
                </a:solidFill>
                <a:latin typeface="Calibri" pitchFamily="34" charset="0"/>
                <a:ea typeface="Calibri" pitchFamily="34" charset="-122"/>
                <a:cs typeface="Calibri" pitchFamily="34" charset="-120"/>
              </a:rPr>
              <a:t>⚠  Red cells indicate data quality issues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 Cleaning Steps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82880" y="749808"/>
          <a:ext cx="8778240" cy="4251960"/>
        </p:xfrm>
        <a:graphic>
          <a:graphicData uri="http://schemas.openxmlformats.org/drawingml/2006/table">
            <a:tbl>
              <a:tblPr/>
              <a:tblGrid>
                <a:gridCol w="320040"/>
                <a:gridCol w="2377440"/>
                <a:gridCol w="1463040"/>
                <a:gridCol w="2331720"/>
                <a:gridCol w="2286000"/>
              </a:tblGrid>
              <a:tr h="6126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Issue Found</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Affected Column(s)</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Applied</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Reason</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612648">
                <a:tc>
                  <a:txBody>
                    <a:bodyPr/>
                    <a:lstStyle/>
                    <a:p>
                      <a:pPr algn="ctr" indent="0" marL="0">
                        <a:buNone/>
                      </a:pPr>
                      <a:r>
                        <a:rPr lang="en-US" sz="950" b="1" dirty="0">
                          <a:solidFill>
                            <a:srgbClr val="000000"/>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Semi-duplicate rows (Bob, ID=2): one row has Age, the other has Salary</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ID, Name, Age, Salary</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Merged rows via ffill().bfill() then kept single record</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Duplicate ID with complementary missing values — merging gives one complete row</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612648">
                <a:tc>
                  <a:txBody>
                    <a:bodyPr/>
                    <a:lstStyle/>
                    <a:p>
                      <a:pPr algn="ctr" indent="0" marL="0">
                        <a:buNone/>
                      </a:pPr>
                      <a:r>
                        <a:rPr lang="en-US" sz="950" b="1" dirty="0">
                          <a:solidFill>
                            <a:srgbClr val="000000"/>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Text-encoded numbers ('thirty-eight', 'sixty five thousand')</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Age, Salary</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Used word2number library to convert text → numeric; then pd.to_numeric(errors='coerce')</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Numeric columns must contain only numbers for calculations and aggregations</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612648">
                <a:tc>
                  <a:txBody>
                    <a:bodyPr/>
                    <a:lstStyle/>
                    <a:p>
                      <a:pPr algn="ctr" indent="0" marL="0">
                        <a:buNone/>
                      </a:pPr>
                      <a:r>
                        <a:rPr lang="en-US" sz="950" b="1" dirty="0">
                          <a:solidFill>
                            <a:srgbClr val="000000"/>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Missing values (NaN) in multiple columns</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ID, Name, Age, Country, Salary, Join Date</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ID → next available int; Name/Country/Join Date → 'Unknown'; Age/Salary → median</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Median prevents outlier skew; 'Unknown' preserves rows without guessing values</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612648">
                <a:tc>
                  <a:txBody>
                    <a:bodyPr/>
                    <a:lstStyle/>
                    <a:p>
                      <a:pPr algn="ctr" indent="0" marL="0">
                        <a:buNone/>
                      </a:pPr>
                      <a:r>
                        <a:rPr lang="en-US" sz="950" b="1" dirty="0">
                          <a:solidFill>
                            <a:srgbClr val="000000"/>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Invalid date format ('2019-13-01' — month 13 doesn't exist)</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Join Date</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Custom fix_date() function: tried standard parse; on failure, swapped YYYY-DD-MM → correct datetime</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Standardises all dates to YYYY-MM-DD; avoids silent NaT errors in analysis</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612648">
                <a:tc>
                  <a:txBody>
                    <a:bodyPr/>
                    <a:lstStyle/>
                    <a:p>
                      <a:pPr algn="ctr" indent="0" marL="0">
                        <a:buNone/>
                      </a:pPr>
                      <a:r>
                        <a:rPr lang="en-US" sz="950" b="1" dirty="0">
                          <a:solidFill>
                            <a:srgbClr val="000000"/>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Inconsistent country code ('AU' instead of 'AUS')</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Country</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df['Country'].replace({'AU': 'AUS'})</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Ensures uniform country codes for grouping and aggregation</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612648">
                <a:tc>
                  <a:txBody>
                    <a:bodyPr/>
                    <a:lstStyle/>
                    <a:p>
                      <a:pPr algn="ctr" indent="0" marL="0">
                        <a:buNone/>
                      </a:pPr>
                      <a:r>
                        <a:rPr lang="en-US" sz="950" b="1" dirty="0">
                          <a:solidFill>
                            <a:srgbClr val="000000"/>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ID column stored as float (1.0, 2.0 …) due to NaN row</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ID</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Cast to Int64 (nullable integer) after filling missing ID</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IDs are whole numbers — float representation is misleading and wastes memory</a:t>
                      </a:r>
                      <a:endParaRPr lang="en-US" sz="95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Cleaned Dataset — Final Result</a:t>
            </a:r>
            <a:endParaRPr lang="en-US" sz="2400" dirty="0"/>
          </a:p>
        </p:txBody>
      </p:sp>
      <p:sp>
        <p:nvSpPr>
          <p:cNvPr id="4" name="Text 2"/>
          <p:cNvSpPr/>
          <p:nvPr/>
        </p:nvSpPr>
        <p:spPr>
          <a:xfrm>
            <a:off x="274320" y="777240"/>
            <a:ext cx="8595360" cy="347472"/>
          </a:xfrm>
          <a:prstGeom prst="rect">
            <a:avLst/>
          </a:prstGeom>
          <a:noFill/>
          <a:ln/>
        </p:spPr>
        <p:txBody>
          <a:bodyPr wrap="square"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All 6 data quality issues resolved. The table below shows the final clean dataset ready for analysis.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161288"/>
          <a:ext cx="8595360" cy="3520440"/>
        </p:xfrm>
        <a:graphic>
          <a:graphicData uri="http://schemas.openxmlformats.org/drawingml/2006/table">
            <a:tbl>
              <a:tblPr/>
              <a:tblGrid>
                <a:gridCol w="640080"/>
                <a:gridCol w="1371600"/>
                <a:gridCol w="914400"/>
                <a:gridCol w="1188720"/>
                <a:gridCol w="1463040"/>
                <a:gridCol w="3017520"/>
              </a:tblGrid>
              <a:tr h="33832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Name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Age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Salary</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Join Date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338328">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Alice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55,000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2020-01-15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Bob</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60,000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2020-02-20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Charlie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35.0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AUS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72,000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Unknown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David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38.0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68,000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2019-11-01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Unknown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65,000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2018-05-30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Grace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22.0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Unknown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64,000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2021-07-25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Heidi</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29.5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AUS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62,000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2021-07-25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38328">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Eve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29.0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AUS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59,000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6B2A"/>
                          </a:solidFill>
                          <a:latin typeface="Calibri" pitchFamily="34" charset="0"/>
                          <a:ea typeface="Calibri" pitchFamily="34" charset="-122"/>
                          <a:cs typeface="Calibri" pitchFamily="34" charset="-120"/>
                        </a:rPr>
                        <a:t>2019-01-13</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Ivan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27.0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NZ</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58,000</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2019-03-15</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Shape 3"/>
          <p:cNvSpPr/>
          <p:nvPr/>
        </p:nvSpPr>
        <p:spPr>
          <a:xfrm>
            <a:off x="274320" y="4727448"/>
            <a:ext cx="201168" cy="201168"/>
          </a:xfrm>
          <a:prstGeom prst="rect">
            <a:avLst/>
          </a:prstGeom>
          <a:solidFill>
            <a:srgbClr val="E8F5E9"/>
          </a:solidFill>
          <a:ln w="12700">
            <a:solidFill>
              <a:srgbClr val="1A6B2A"/>
            </a:solidFill>
            <a:prstDash val="solid"/>
          </a:ln>
        </p:spPr>
      </p:sp>
      <p:sp>
        <p:nvSpPr>
          <p:cNvPr id="7" name="Text 4"/>
          <p:cNvSpPr/>
          <p:nvPr/>
        </p:nvSpPr>
        <p:spPr>
          <a:xfrm>
            <a:off x="521208" y="4700016"/>
            <a:ext cx="6858000" cy="256032"/>
          </a:xfrm>
          <a:prstGeom prst="rect">
            <a:avLst/>
          </a:prstGeom>
          <a:noFill/>
          <a:ln/>
        </p:spPr>
        <p:txBody>
          <a:bodyPr wrap="square" rtlCol="0" anchor="ctr"/>
          <a:lstStyle/>
          <a:p>
            <a:pPr indent="0" marL="0">
              <a:buNone/>
            </a:pPr>
            <a:r>
              <a:rPr lang="en-US" sz="1100" b="1" dirty="0">
                <a:solidFill>
                  <a:srgbClr val="1A6B2A"/>
                </a:solidFill>
                <a:latin typeface="Calibri" pitchFamily="34" charset="0"/>
                <a:ea typeface="Calibri" pitchFamily="34" charset="-122"/>
                <a:cs typeface="Calibri" pitchFamily="34" charset="-120"/>
              </a:rPr>
              <a:t>= Value was fixed/imputed during data cleaning</a:t>
            </a:r>
            <a:endParaRPr lang="en-US" sz="1100" dirty="0"/>
          </a:p>
        </p:txBody>
      </p:sp>
      <p:sp>
        <p:nvSpPr>
          <p:cNvPr id="8" name="Text 5"/>
          <p:cNvSpPr/>
          <p:nvPr/>
        </p:nvSpPr>
        <p:spPr>
          <a:xfrm>
            <a:off x="274320" y="4983480"/>
            <a:ext cx="8595360" cy="228600"/>
          </a:xfrm>
          <a:prstGeom prst="rect">
            <a:avLst/>
          </a:prstGeom>
          <a:noFill/>
          <a:ln/>
        </p:spPr>
        <p:txBody>
          <a:bodyPr wrap="square"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 Heidi's Age (29.5) and Salary (62,000) were imputed using the median of the cleaned dataset.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Visualization 1 — Salary Distribution (Histogram)</a:t>
            </a:r>
            <a:endParaRPr lang="en-US" sz="2200" dirty="0"/>
          </a:p>
        </p:txBody>
      </p:sp>
      <p:pic>
        <p:nvPicPr>
          <p:cNvPr id="4" name="Image 0" descr="preencoded.png">    </p:cNvPr>
          <p:cNvPicPr>
            <a:picLocks noChangeAspect="1"/>
          </p:cNvPicPr>
          <p:nvPr/>
        </p:nvPicPr>
        <p:blipFill>
          <a:blip r:embed="rId1"/>
          <a:stretch>
            <a:fillRect/>
          </a:stretch>
        </p:blipFill>
        <p:spPr>
          <a:xfrm>
            <a:off x="365760" y="868680"/>
            <a:ext cx="5029200" cy="3383280"/>
          </a:xfrm>
          <a:prstGeom prst="rect">
            <a:avLst/>
          </a:prstGeom>
        </p:spPr>
      </p:pic>
      <p:sp>
        <p:nvSpPr>
          <p:cNvPr id="5" name="Shape 2"/>
          <p:cNvSpPr/>
          <p:nvPr/>
        </p:nvSpPr>
        <p:spPr>
          <a:xfrm>
            <a:off x="5669280" y="868680"/>
            <a:ext cx="3200400" cy="2011680"/>
          </a:xfrm>
          <a:prstGeom prst="rect">
            <a:avLst/>
          </a:prstGeom>
          <a:solidFill>
            <a:srgbClr val="F0F4FF"/>
          </a:solidFill>
          <a:ln w="12700">
            <a:solidFill>
              <a:srgbClr val="4A90D9"/>
            </a:solidFill>
            <a:prstDash val="solid"/>
          </a:ln>
        </p:spPr>
      </p:sp>
      <p:sp>
        <p:nvSpPr>
          <p:cNvPr id="6" name="Text 3"/>
          <p:cNvSpPr/>
          <p:nvPr/>
        </p:nvSpPr>
        <p:spPr>
          <a:xfrm>
            <a:off x="5760720" y="914400"/>
            <a:ext cx="30175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Statistics</a:t>
            </a:r>
            <a:endParaRPr lang="en-US" sz="1300" dirty="0"/>
          </a:p>
        </p:txBody>
      </p:sp>
      <p:sp>
        <p:nvSpPr>
          <p:cNvPr id="7" name="Text 4"/>
          <p:cNvSpPr/>
          <p:nvPr/>
        </p:nvSpPr>
        <p:spPr>
          <a:xfrm>
            <a:off x="5760720" y="1280160"/>
            <a:ext cx="3017520" cy="256032"/>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Min Salary:   NZD 55,000</a:t>
            </a:r>
            <a:endParaRPr lang="en-US" sz="1100" dirty="0"/>
          </a:p>
        </p:txBody>
      </p:sp>
      <p:sp>
        <p:nvSpPr>
          <p:cNvPr id="8" name="Text 5"/>
          <p:cNvSpPr/>
          <p:nvPr/>
        </p:nvSpPr>
        <p:spPr>
          <a:xfrm>
            <a:off x="5760720" y="1554480"/>
            <a:ext cx="3017520" cy="256032"/>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Max Salary:   NZD 72,000</a:t>
            </a:r>
            <a:endParaRPr lang="en-US" sz="1100" dirty="0"/>
          </a:p>
        </p:txBody>
      </p:sp>
      <p:sp>
        <p:nvSpPr>
          <p:cNvPr id="9" name="Text 6"/>
          <p:cNvSpPr/>
          <p:nvPr/>
        </p:nvSpPr>
        <p:spPr>
          <a:xfrm>
            <a:off x="5760720" y="1828800"/>
            <a:ext cx="3017520" cy="256032"/>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Median:       NZD 62,000</a:t>
            </a:r>
            <a:endParaRPr lang="en-US" sz="1100" dirty="0"/>
          </a:p>
        </p:txBody>
      </p:sp>
      <p:sp>
        <p:nvSpPr>
          <p:cNvPr id="10" name="Text 7"/>
          <p:cNvSpPr/>
          <p:nvPr/>
        </p:nvSpPr>
        <p:spPr>
          <a:xfrm>
            <a:off x="5760720" y="2103120"/>
            <a:ext cx="3017520" cy="256032"/>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Range:        NZD 17,000</a:t>
            </a:r>
            <a:endParaRPr lang="en-US" sz="1100" dirty="0"/>
          </a:p>
        </p:txBody>
      </p:sp>
      <p:sp>
        <p:nvSpPr>
          <p:cNvPr id="11" name="Text 8"/>
          <p:cNvSpPr/>
          <p:nvPr/>
        </p:nvSpPr>
        <p:spPr>
          <a:xfrm>
            <a:off x="5760720" y="2377440"/>
            <a:ext cx="3017520" cy="256032"/>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Employees:    9 records</a:t>
            </a:r>
            <a:endParaRPr lang="en-US" sz="1100" dirty="0"/>
          </a:p>
        </p:txBody>
      </p:sp>
      <p:sp>
        <p:nvSpPr>
          <p:cNvPr id="12" name="Shape 9"/>
          <p:cNvSpPr/>
          <p:nvPr/>
        </p:nvSpPr>
        <p:spPr>
          <a:xfrm>
            <a:off x="365760" y="4370832"/>
            <a:ext cx="8412480" cy="658368"/>
          </a:xfrm>
          <a:prstGeom prst="rect">
            <a:avLst/>
          </a:prstGeom>
          <a:solidFill>
            <a:srgbClr val="E8F5E9"/>
          </a:solidFill>
          <a:ln w="12700">
            <a:solidFill>
              <a:srgbClr val="50C878"/>
            </a:solidFill>
            <a:prstDash val="solid"/>
          </a:ln>
        </p:spPr>
      </p:sp>
      <p:sp>
        <p:nvSpPr>
          <p:cNvPr id="13" name="Text 10"/>
          <p:cNvSpPr/>
          <p:nvPr/>
        </p:nvSpPr>
        <p:spPr>
          <a:xfrm>
            <a:off x="502920" y="4416552"/>
            <a:ext cx="8229600" cy="566928"/>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Conclusion: Salaries are fairly evenly spread between NZD 55,000 and NZD 72,000. The distribution is roughly uniform with no extreme spikes, suggesting the team spans different roles and seniority levels without any single dominant salary band.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Visualization 2 — Average Salary by Country (Bar Chart)</a:t>
            </a:r>
            <a:endParaRPr lang="en-US" sz="2200" dirty="0"/>
          </a:p>
        </p:txBody>
      </p:sp>
      <p:pic>
        <p:nvPicPr>
          <p:cNvPr id="4" name="Image 0" descr="preencoded.png">    </p:cNvPr>
          <p:cNvPicPr>
            <a:picLocks noChangeAspect="1"/>
          </p:cNvPicPr>
          <p:nvPr/>
        </p:nvPicPr>
        <p:blipFill>
          <a:blip r:embed="rId1"/>
          <a:stretch>
            <a:fillRect/>
          </a:stretch>
        </p:blipFill>
        <p:spPr>
          <a:xfrm>
            <a:off x="457200" y="822960"/>
            <a:ext cx="5029200" cy="3383280"/>
          </a:xfrm>
          <a:prstGeom prst="rect">
            <a:avLst/>
          </a:prstGeom>
        </p:spPr>
      </p:pic>
      <p:sp>
        <p:nvSpPr>
          <p:cNvPr id="5" name="Shape 2"/>
          <p:cNvSpPr/>
          <p:nvPr/>
        </p:nvSpPr>
        <p:spPr>
          <a:xfrm>
            <a:off x="5669280" y="868680"/>
            <a:ext cx="3200400" cy="2286000"/>
          </a:xfrm>
          <a:prstGeom prst="rect">
            <a:avLst/>
          </a:prstGeom>
          <a:solidFill>
            <a:srgbClr val="F0F4FF"/>
          </a:solidFill>
          <a:ln w="12700">
            <a:solidFill>
              <a:srgbClr val="4A90D9"/>
            </a:solidFill>
            <a:prstDash val="solid"/>
          </a:ln>
        </p:spPr>
      </p:sp>
      <p:sp>
        <p:nvSpPr>
          <p:cNvPr id="6" name="Text 3"/>
          <p:cNvSpPr/>
          <p:nvPr/>
        </p:nvSpPr>
        <p:spPr>
          <a:xfrm>
            <a:off x="5760720" y="914400"/>
            <a:ext cx="301752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Average Salary by Country</a:t>
            </a:r>
            <a:endParaRPr lang="en-US" sz="1200" dirty="0"/>
          </a:p>
        </p:txBody>
      </p:sp>
      <p:sp>
        <p:nvSpPr>
          <p:cNvPr id="7" name="Text 4"/>
          <p:cNvSpPr/>
          <p:nvPr/>
        </p:nvSpPr>
        <p:spPr>
          <a:xfrm>
            <a:off x="5760720" y="1325880"/>
            <a:ext cx="3017520" cy="274320"/>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AUS:   ~NZD 66,333</a:t>
            </a:r>
            <a:endParaRPr lang="en-US" sz="1100" dirty="0"/>
          </a:p>
        </p:txBody>
      </p:sp>
      <p:sp>
        <p:nvSpPr>
          <p:cNvPr id="8" name="Text 5"/>
          <p:cNvSpPr/>
          <p:nvPr/>
        </p:nvSpPr>
        <p:spPr>
          <a:xfrm>
            <a:off x="5760720" y="1645920"/>
            <a:ext cx="3017520" cy="274320"/>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NZ:   ~NZD 62,833</a:t>
            </a:r>
            <a:endParaRPr lang="en-US" sz="1100" dirty="0"/>
          </a:p>
        </p:txBody>
      </p:sp>
      <p:sp>
        <p:nvSpPr>
          <p:cNvPr id="9" name="Text 6"/>
          <p:cNvSpPr/>
          <p:nvPr/>
        </p:nvSpPr>
        <p:spPr>
          <a:xfrm>
            <a:off x="5760720" y="1965960"/>
            <a:ext cx="3017520" cy="274320"/>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Unknown:   NZD 64,000</a:t>
            </a:r>
            <a:endParaRPr lang="en-US" sz="1100" dirty="0"/>
          </a:p>
        </p:txBody>
      </p:sp>
      <p:sp>
        <p:nvSpPr>
          <p:cNvPr id="10" name="Shape 7"/>
          <p:cNvSpPr/>
          <p:nvPr/>
        </p:nvSpPr>
        <p:spPr>
          <a:xfrm>
            <a:off x="365760" y="4370832"/>
            <a:ext cx="8412480" cy="658368"/>
          </a:xfrm>
          <a:prstGeom prst="rect">
            <a:avLst/>
          </a:prstGeom>
          <a:solidFill>
            <a:srgbClr val="E8F5E9"/>
          </a:solidFill>
          <a:ln w="12700">
            <a:solidFill>
              <a:srgbClr val="50C878"/>
            </a:solidFill>
            <a:prstDash val="solid"/>
          </a:ln>
        </p:spPr>
      </p:sp>
      <p:sp>
        <p:nvSpPr>
          <p:cNvPr id="11" name="Text 8"/>
          <p:cNvSpPr/>
          <p:nvPr/>
        </p:nvSpPr>
        <p:spPr>
          <a:xfrm>
            <a:off x="502920" y="4416552"/>
            <a:ext cx="8229600" cy="566928"/>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Conclusion: Australian employees earn slightly more on average (~NZD 66,333) than New Zealand employees (~NZD 62,833). The 'Unknown' country category (Grace) falls between the two. The difference may reflect currency, role type, or cost of living adjustments.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Visualization 3 — Age vs Salary (Scatter Plot)</a:t>
            </a:r>
            <a:endParaRPr lang="en-US" sz="2200" dirty="0"/>
          </a:p>
        </p:txBody>
      </p:sp>
      <p:pic>
        <p:nvPicPr>
          <p:cNvPr id="4" name="Image 0" descr="preencoded.png">    </p:cNvPr>
          <p:cNvPicPr>
            <a:picLocks noChangeAspect="1"/>
          </p:cNvPicPr>
          <p:nvPr/>
        </p:nvPicPr>
        <p:blipFill>
          <a:blip r:embed="rId1"/>
          <a:stretch>
            <a:fillRect/>
          </a:stretch>
        </p:blipFill>
        <p:spPr>
          <a:xfrm>
            <a:off x="457200" y="822960"/>
            <a:ext cx="5029200" cy="3383280"/>
          </a:xfrm>
          <a:prstGeom prst="rect">
            <a:avLst/>
          </a:prstGeom>
        </p:spPr>
      </p:pic>
      <p:sp>
        <p:nvSpPr>
          <p:cNvPr id="5" name="Shape 2"/>
          <p:cNvSpPr/>
          <p:nvPr/>
        </p:nvSpPr>
        <p:spPr>
          <a:xfrm>
            <a:off x="5669280" y="868680"/>
            <a:ext cx="3200400" cy="2103120"/>
          </a:xfrm>
          <a:prstGeom prst="rect">
            <a:avLst/>
          </a:prstGeom>
          <a:solidFill>
            <a:srgbClr val="F0F4FF"/>
          </a:solidFill>
          <a:ln w="12700">
            <a:solidFill>
              <a:srgbClr val="4A90D9"/>
            </a:solidFill>
            <a:prstDash val="solid"/>
          </a:ln>
        </p:spPr>
      </p:sp>
      <p:sp>
        <p:nvSpPr>
          <p:cNvPr id="6" name="Text 3"/>
          <p:cNvSpPr/>
          <p:nvPr/>
        </p:nvSpPr>
        <p:spPr>
          <a:xfrm>
            <a:off x="5760720" y="914400"/>
            <a:ext cx="301752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Observation</a:t>
            </a:r>
            <a:endParaRPr lang="en-US" sz="1200" dirty="0"/>
          </a:p>
        </p:txBody>
      </p:sp>
      <p:sp>
        <p:nvSpPr>
          <p:cNvPr id="7" name="Text 4"/>
          <p:cNvSpPr/>
          <p:nvPr/>
        </p:nvSpPr>
        <p:spPr>
          <a:xfrm>
            <a:off x="5760720" y="1325880"/>
            <a:ext cx="3017520" cy="246888"/>
          </a:xfrm>
          <a:prstGeom prst="rect">
            <a:avLst/>
          </a:prstGeom>
          <a:noFill/>
          <a:ln/>
        </p:spPr>
        <p:txBody>
          <a:bodyPr wrap="square" rtlCol="0" anchor="ctr"/>
          <a:lstStyle/>
          <a:p>
            <a:pPr indent="0" marL="0">
              <a:buNone/>
            </a:pPr>
            <a:r>
              <a:rPr lang="en-US" sz="1050" dirty="0">
                <a:solidFill>
                  <a:srgbClr val="1E293B"/>
                </a:solidFill>
                <a:latin typeface="Consolas" pitchFamily="34" charset="0"/>
                <a:ea typeface="Consolas" pitchFamily="34" charset="-122"/>
                <a:cs typeface="Consolas" pitchFamily="34" charset="-120"/>
              </a:rPr>
              <a:t>Youngest: Grace, 22 → 64k</a:t>
            </a:r>
            <a:endParaRPr lang="en-US" sz="1050" dirty="0"/>
          </a:p>
        </p:txBody>
      </p:sp>
      <p:sp>
        <p:nvSpPr>
          <p:cNvPr id="8" name="Text 5"/>
          <p:cNvSpPr/>
          <p:nvPr/>
        </p:nvSpPr>
        <p:spPr>
          <a:xfrm>
            <a:off x="5760720" y="1600200"/>
            <a:ext cx="3017520" cy="246888"/>
          </a:xfrm>
          <a:prstGeom prst="rect">
            <a:avLst/>
          </a:prstGeom>
          <a:noFill/>
          <a:ln/>
        </p:spPr>
        <p:txBody>
          <a:bodyPr wrap="square" rtlCol="0" anchor="ctr"/>
          <a:lstStyle/>
          <a:p>
            <a:pPr indent="0" marL="0">
              <a:buNone/>
            </a:pPr>
            <a:r>
              <a:rPr lang="en-US" sz="1050" dirty="0">
                <a:solidFill>
                  <a:srgbClr val="1E293B"/>
                </a:solidFill>
                <a:latin typeface="Consolas" pitchFamily="34" charset="0"/>
                <a:ea typeface="Consolas" pitchFamily="34" charset="-122"/>
                <a:cs typeface="Consolas" pitchFamily="34" charset="-120"/>
              </a:rPr>
              <a:t>Oldest:   Unknown, 40 → 65k</a:t>
            </a:r>
            <a:endParaRPr lang="en-US" sz="1050" dirty="0"/>
          </a:p>
        </p:txBody>
      </p:sp>
      <p:sp>
        <p:nvSpPr>
          <p:cNvPr id="9" name="Text 6"/>
          <p:cNvSpPr/>
          <p:nvPr/>
        </p:nvSpPr>
        <p:spPr>
          <a:xfrm>
            <a:off x="5760720" y="1874520"/>
            <a:ext cx="3017520" cy="246888"/>
          </a:xfrm>
          <a:prstGeom prst="rect">
            <a:avLst/>
          </a:prstGeom>
          <a:noFill/>
          <a:ln/>
        </p:spPr>
        <p:txBody>
          <a:bodyPr wrap="square" rtlCol="0" anchor="ctr"/>
          <a:lstStyle/>
          <a:p>
            <a:pPr indent="0" marL="0">
              <a:buNone/>
            </a:pPr>
            <a:r>
              <a:rPr lang="en-US" sz="1050" dirty="0">
                <a:solidFill>
                  <a:srgbClr val="1E293B"/>
                </a:solidFill>
                <a:latin typeface="Consolas" pitchFamily="34" charset="0"/>
                <a:ea typeface="Consolas" pitchFamily="34" charset="-122"/>
                <a:cs typeface="Consolas" pitchFamily="34" charset="-120"/>
              </a:rPr>
              <a:t>Highest:  Charlie, 35 → 72k</a:t>
            </a:r>
            <a:endParaRPr lang="en-US" sz="1050" dirty="0"/>
          </a:p>
        </p:txBody>
      </p:sp>
      <p:sp>
        <p:nvSpPr>
          <p:cNvPr id="10" name="Text 7"/>
          <p:cNvSpPr/>
          <p:nvPr/>
        </p:nvSpPr>
        <p:spPr>
          <a:xfrm>
            <a:off x="5760720" y="2148840"/>
            <a:ext cx="3017520" cy="246888"/>
          </a:xfrm>
          <a:prstGeom prst="rect">
            <a:avLst/>
          </a:prstGeom>
          <a:noFill/>
          <a:ln/>
        </p:spPr>
        <p:txBody>
          <a:bodyPr wrap="square" rtlCol="0" anchor="ctr"/>
          <a:lstStyle/>
          <a:p>
            <a:pPr indent="0" marL="0">
              <a:buNone/>
            </a:pPr>
            <a:r>
              <a:rPr lang="en-US" sz="1050" dirty="0">
                <a:solidFill>
                  <a:srgbClr val="1E293B"/>
                </a:solidFill>
                <a:latin typeface="Consolas" pitchFamily="34" charset="0"/>
                <a:ea typeface="Consolas" pitchFamily="34" charset="-122"/>
                <a:cs typeface="Consolas" pitchFamily="34" charset="-120"/>
              </a:rPr>
              <a:t>Lowest:   Alice, 25 → 55k</a:t>
            </a:r>
            <a:endParaRPr lang="en-US" sz="1050" dirty="0"/>
          </a:p>
        </p:txBody>
      </p:sp>
      <p:sp>
        <p:nvSpPr>
          <p:cNvPr id="11" name="Text 8"/>
          <p:cNvSpPr/>
          <p:nvPr/>
        </p:nvSpPr>
        <p:spPr>
          <a:xfrm>
            <a:off x="5760720" y="2423160"/>
            <a:ext cx="3017520" cy="246888"/>
          </a:xfrm>
          <a:prstGeom prst="rect">
            <a:avLst/>
          </a:prstGeom>
          <a:noFill/>
          <a:ln/>
        </p:spPr>
        <p:txBody>
          <a:bodyPr wrap="square" rtlCol="0" anchor="ctr"/>
          <a:lstStyle/>
          <a:p>
            <a:pPr indent="0" marL="0">
              <a:buNone/>
            </a:pPr>
            <a:r>
              <a:rPr lang="en-US" sz="1050" dirty="0">
                <a:solidFill>
                  <a:srgbClr val="1E293B"/>
                </a:solidFill>
                <a:latin typeface="Consolas" pitchFamily="34" charset="0"/>
                <a:ea typeface="Consolas" pitchFamily="34" charset="-122"/>
                <a:cs typeface="Consolas" pitchFamily="34" charset="-120"/>
              </a:rPr>
              <a:t>Trend: weak positive (r≈0.63)</a:t>
            </a:r>
            <a:endParaRPr lang="en-US" sz="1050" dirty="0"/>
          </a:p>
        </p:txBody>
      </p:sp>
      <p:sp>
        <p:nvSpPr>
          <p:cNvPr id="12" name="Shape 9"/>
          <p:cNvSpPr/>
          <p:nvPr/>
        </p:nvSpPr>
        <p:spPr>
          <a:xfrm>
            <a:off x="365760" y="4370832"/>
            <a:ext cx="8412480" cy="658368"/>
          </a:xfrm>
          <a:prstGeom prst="rect">
            <a:avLst/>
          </a:prstGeom>
          <a:solidFill>
            <a:srgbClr val="E8F5E9"/>
          </a:solidFill>
          <a:ln w="12700">
            <a:solidFill>
              <a:srgbClr val="50C878"/>
            </a:solidFill>
            <a:prstDash val="solid"/>
          </a:ln>
        </p:spPr>
      </p:sp>
      <p:sp>
        <p:nvSpPr>
          <p:cNvPr id="13" name="Text 10"/>
          <p:cNvSpPr/>
          <p:nvPr/>
        </p:nvSpPr>
        <p:spPr>
          <a:xfrm>
            <a:off x="502920" y="4416552"/>
            <a:ext cx="8229600" cy="566928"/>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Conclusion: There is a moderate positive trend — older employees tend to earn more. However, the relationship is not perfectly linear, suggesting other factors (e.g. country, role) also influence salary. Charlie (35 years, NZD 72k) stands out as an outlier on the high end.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Visualization 4 — Employee Distribution by Country (Pie Chart)</a:t>
            </a:r>
            <a:endParaRPr lang="en-US" sz="2200" dirty="0"/>
          </a:p>
        </p:txBody>
      </p:sp>
      <p:pic>
        <p:nvPicPr>
          <p:cNvPr id="4" name="Image 0" descr="preencoded.png">    </p:cNvPr>
          <p:cNvPicPr>
            <a:picLocks noChangeAspect="1"/>
          </p:cNvPicPr>
          <p:nvPr/>
        </p:nvPicPr>
        <p:blipFill>
          <a:blip r:embed="rId1"/>
          <a:stretch>
            <a:fillRect/>
          </a:stretch>
        </p:blipFill>
        <p:spPr>
          <a:xfrm>
            <a:off x="365760" y="777240"/>
            <a:ext cx="4572000" cy="3657600"/>
          </a:xfrm>
          <a:prstGeom prst="rect">
            <a:avLst/>
          </a:prstGeom>
        </p:spPr>
      </p:pic>
      <p:sp>
        <p:nvSpPr>
          <p:cNvPr id="5" name="Shape 2"/>
          <p:cNvSpPr/>
          <p:nvPr/>
        </p:nvSpPr>
        <p:spPr>
          <a:xfrm>
            <a:off x="5212080" y="822960"/>
            <a:ext cx="3657600" cy="2377440"/>
          </a:xfrm>
          <a:prstGeom prst="rect">
            <a:avLst/>
          </a:prstGeom>
          <a:solidFill>
            <a:srgbClr val="F0F4FF"/>
          </a:solidFill>
          <a:ln w="12700">
            <a:solidFill>
              <a:srgbClr val="4A90D9"/>
            </a:solidFill>
            <a:prstDash val="solid"/>
          </a:ln>
        </p:spPr>
      </p:sp>
      <p:sp>
        <p:nvSpPr>
          <p:cNvPr id="6" name="Text 3"/>
          <p:cNvSpPr/>
          <p:nvPr/>
        </p:nvSpPr>
        <p:spPr>
          <a:xfrm>
            <a:off x="5303520" y="868680"/>
            <a:ext cx="347472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Distribution Breakdown</a:t>
            </a:r>
            <a:endParaRPr lang="en-US" sz="1200" dirty="0"/>
          </a:p>
        </p:txBody>
      </p:sp>
      <p:sp>
        <p:nvSpPr>
          <p:cNvPr id="7" name="Text 4"/>
          <p:cNvSpPr/>
          <p:nvPr/>
        </p:nvSpPr>
        <p:spPr>
          <a:xfrm>
            <a:off x="5303520" y="1298448"/>
            <a:ext cx="3474720" cy="320040"/>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NZ:   5 employees (55.6%)</a:t>
            </a:r>
            <a:endParaRPr lang="en-US" sz="1100" dirty="0"/>
          </a:p>
        </p:txBody>
      </p:sp>
      <p:sp>
        <p:nvSpPr>
          <p:cNvPr id="8" name="Text 5"/>
          <p:cNvSpPr/>
          <p:nvPr/>
        </p:nvSpPr>
        <p:spPr>
          <a:xfrm>
            <a:off x="5303520" y="1664208"/>
            <a:ext cx="3474720" cy="320040"/>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AUS:   3 employees (33.3%)</a:t>
            </a:r>
            <a:endParaRPr lang="en-US" sz="1100" dirty="0"/>
          </a:p>
        </p:txBody>
      </p:sp>
      <p:sp>
        <p:nvSpPr>
          <p:cNvPr id="9" name="Text 6"/>
          <p:cNvSpPr/>
          <p:nvPr/>
        </p:nvSpPr>
        <p:spPr>
          <a:xfrm>
            <a:off x="5303520" y="2029968"/>
            <a:ext cx="3474720" cy="320040"/>
          </a:xfrm>
          <a:prstGeom prst="rect">
            <a:avLst/>
          </a:prstGeom>
          <a:noFill/>
          <a:ln/>
        </p:spPr>
        <p:txBody>
          <a:bodyPr wrap="square" rtlCol="0" anchor="ctr"/>
          <a:lstStyle/>
          <a:p>
            <a:pPr indent="0" marL="0">
              <a:buNone/>
            </a:pPr>
            <a:r>
              <a:rPr lang="en-US" sz="1100" dirty="0">
                <a:solidFill>
                  <a:srgbClr val="1E293B"/>
                </a:solidFill>
                <a:latin typeface="Consolas" pitchFamily="34" charset="0"/>
                <a:ea typeface="Consolas" pitchFamily="34" charset="-122"/>
                <a:cs typeface="Consolas" pitchFamily="34" charset="-120"/>
              </a:rPr>
              <a:t>Unknown:   1 employee (11.1%)</a:t>
            </a:r>
            <a:endParaRPr lang="en-US" sz="1100" dirty="0"/>
          </a:p>
        </p:txBody>
      </p:sp>
      <p:sp>
        <p:nvSpPr>
          <p:cNvPr id="10" name="Shape 7"/>
          <p:cNvSpPr/>
          <p:nvPr/>
        </p:nvSpPr>
        <p:spPr>
          <a:xfrm>
            <a:off x="365760" y="4526280"/>
            <a:ext cx="8412480" cy="502920"/>
          </a:xfrm>
          <a:prstGeom prst="rect">
            <a:avLst/>
          </a:prstGeom>
          <a:solidFill>
            <a:srgbClr val="E8F5E9"/>
          </a:solidFill>
          <a:ln w="12700">
            <a:solidFill>
              <a:srgbClr val="50C878"/>
            </a:solidFill>
            <a:prstDash val="solid"/>
          </a:ln>
        </p:spPr>
      </p:sp>
      <p:sp>
        <p:nvSpPr>
          <p:cNvPr id="11" name="Text 8"/>
          <p:cNvSpPr/>
          <p:nvPr/>
        </p:nvSpPr>
        <p:spPr>
          <a:xfrm>
            <a:off x="502920" y="4572000"/>
            <a:ext cx="8229600" cy="411480"/>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  Conclusion: The majority of employees (55.6%) are based in New Zealand, followed by Australia (33.3%). One employee's country was unknown and standardised to 'Unknown' during cleaning.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Visualization 5 — Pearson Correlation Heatmap</a:t>
            </a:r>
            <a:endParaRPr lang="en-US" sz="2200" dirty="0"/>
          </a:p>
        </p:txBody>
      </p:sp>
      <p:pic>
        <p:nvPicPr>
          <p:cNvPr id="4" name="Image 0" descr="preencoded.png">    </p:cNvPr>
          <p:cNvPicPr>
            <a:picLocks noChangeAspect="1"/>
          </p:cNvPicPr>
          <p:nvPr/>
        </p:nvPicPr>
        <p:blipFill>
          <a:blip r:embed="rId1"/>
          <a:stretch>
            <a:fillRect/>
          </a:stretch>
        </p:blipFill>
        <p:spPr>
          <a:xfrm>
            <a:off x="457200" y="822960"/>
            <a:ext cx="4572000" cy="3840480"/>
          </a:xfrm>
          <a:prstGeom prst="rect">
            <a:avLst/>
          </a:prstGeom>
        </p:spPr>
      </p:pic>
      <p:sp>
        <p:nvSpPr>
          <p:cNvPr id="5" name="Shape 2"/>
          <p:cNvSpPr/>
          <p:nvPr/>
        </p:nvSpPr>
        <p:spPr>
          <a:xfrm>
            <a:off x="5303520" y="822960"/>
            <a:ext cx="3566160" cy="2743200"/>
          </a:xfrm>
          <a:prstGeom prst="rect">
            <a:avLst/>
          </a:prstGeom>
          <a:solidFill>
            <a:srgbClr val="F0F4FF"/>
          </a:solidFill>
          <a:ln w="12700">
            <a:solidFill>
              <a:srgbClr val="4A90D9"/>
            </a:solidFill>
            <a:prstDash val="solid"/>
          </a:ln>
        </p:spPr>
      </p:sp>
      <p:sp>
        <p:nvSpPr>
          <p:cNvPr id="6" name="Text 3"/>
          <p:cNvSpPr/>
          <p:nvPr/>
        </p:nvSpPr>
        <p:spPr>
          <a:xfrm>
            <a:off x="5394960" y="868680"/>
            <a:ext cx="3383280" cy="32004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Pearson Algorithm</a:t>
            </a:r>
            <a:endParaRPr lang="en-US" sz="1200" dirty="0"/>
          </a:p>
        </p:txBody>
      </p:sp>
      <p:sp>
        <p:nvSpPr>
          <p:cNvPr id="7" name="Text 4"/>
          <p:cNvSpPr/>
          <p:nvPr/>
        </p:nvSpPr>
        <p:spPr>
          <a:xfrm>
            <a:off x="5394960" y="1261872"/>
            <a:ext cx="3383280" cy="219456"/>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Formula:  r = Σ(x-x̄)(y-ȳ) / √Σ(x-x̄)²Σ(y-ȳ)²</a:t>
            </a:r>
            <a:endParaRPr lang="en-US" sz="1000" dirty="0"/>
          </a:p>
        </p:txBody>
      </p:sp>
      <p:sp>
        <p:nvSpPr>
          <p:cNvPr id="8" name="Text 5"/>
          <p:cNvSpPr/>
          <p:nvPr/>
        </p:nvSpPr>
        <p:spPr>
          <a:xfrm>
            <a:off x="5394960" y="1490472"/>
            <a:ext cx="3383280" cy="219456"/>
          </a:xfrm>
          <a:prstGeom prst="rect">
            <a:avLst/>
          </a:prstGeom>
          <a:noFill/>
          <a:ln/>
        </p:spPr>
        <p:txBody>
          <a:bodyPr wrap="square" rtlCol="0" anchor="ctr"/>
          <a:lstStyle/>
          <a:p>
            <a:pPr indent="0" marL="0">
              <a:buNone/>
            </a:pPr>
            <a:endParaRPr lang="en-US" sz="1000" dirty="0"/>
          </a:p>
        </p:txBody>
      </p:sp>
      <p:sp>
        <p:nvSpPr>
          <p:cNvPr id="9" name="Text 6"/>
          <p:cNvSpPr/>
          <p:nvPr/>
        </p:nvSpPr>
        <p:spPr>
          <a:xfrm>
            <a:off x="5394960" y="1719072"/>
            <a:ext cx="3383280" cy="219456"/>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Result:   r(Age, Salary) = 0.629</a:t>
            </a:r>
            <a:endParaRPr lang="en-US" sz="1000" dirty="0"/>
          </a:p>
        </p:txBody>
      </p:sp>
      <p:sp>
        <p:nvSpPr>
          <p:cNvPr id="10" name="Text 7"/>
          <p:cNvSpPr/>
          <p:nvPr/>
        </p:nvSpPr>
        <p:spPr>
          <a:xfrm>
            <a:off x="5394960" y="1947672"/>
            <a:ext cx="3383280" cy="219456"/>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P-value:  p = 0.0696</a:t>
            </a:r>
            <a:endParaRPr lang="en-US" sz="1000" dirty="0"/>
          </a:p>
        </p:txBody>
      </p:sp>
      <p:sp>
        <p:nvSpPr>
          <p:cNvPr id="11" name="Text 8"/>
          <p:cNvSpPr/>
          <p:nvPr/>
        </p:nvSpPr>
        <p:spPr>
          <a:xfrm>
            <a:off x="5394960" y="2176272"/>
            <a:ext cx="3383280" cy="219456"/>
          </a:xfrm>
          <a:prstGeom prst="rect">
            <a:avLst/>
          </a:prstGeom>
          <a:noFill/>
          <a:ln/>
        </p:spPr>
        <p:txBody>
          <a:bodyPr wrap="square" rtlCol="0" anchor="ctr"/>
          <a:lstStyle/>
          <a:p>
            <a:pPr indent="0" marL="0">
              <a:buNone/>
            </a:pPr>
            <a:endParaRPr lang="en-US" sz="1000" dirty="0"/>
          </a:p>
        </p:txBody>
      </p:sp>
      <p:sp>
        <p:nvSpPr>
          <p:cNvPr id="12" name="Text 9"/>
          <p:cNvSpPr/>
          <p:nvPr/>
        </p:nvSpPr>
        <p:spPr>
          <a:xfrm>
            <a:off x="5394960" y="2404872"/>
            <a:ext cx="3383280" cy="219456"/>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Interpretation:</a:t>
            </a:r>
            <a:endParaRPr lang="en-US" sz="1000" dirty="0"/>
          </a:p>
        </p:txBody>
      </p:sp>
      <p:sp>
        <p:nvSpPr>
          <p:cNvPr id="13" name="Text 10"/>
          <p:cNvSpPr/>
          <p:nvPr/>
        </p:nvSpPr>
        <p:spPr>
          <a:xfrm>
            <a:off x="5394960" y="2633472"/>
            <a:ext cx="3383280" cy="219456"/>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r &gt; 0.6 → moderate positive</a:t>
            </a:r>
            <a:endParaRPr lang="en-US" sz="1000" dirty="0"/>
          </a:p>
        </p:txBody>
      </p:sp>
      <p:sp>
        <p:nvSpPr>
          <p:cNvPr id="14" name="Text 11"/>
          <p:cNvSpPr/>
          <p:nvPr/>
        </p:nvSpPr>
        <p:spPr>
          <a:xfrm>
            <a:off x="5394960" y="2862072"/>
            <a:ext cx="3383280" cy="219456"/>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p &gt; 0.05 → not significant</a:t>
            </a:r>
            <a:endParaRPr lang="en-US" sz="1000" dirty="0"/>
          </a:p>
        </p:txBody>
      </p:sp>
      <p:sp>
        <p:nvSpPr>
          <p:cNvPr id="15" name="Text 12"/>
          <p:cNvSpPr/>
          <p:nvPr/>
        </p:nvSpPr>
        <p:spPr>
          <a:xfrm>
            <a:off x="5394960" y="3090672"/>
            <a:ext cx="3383280" cy="219456"/>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         at 5% level</a:t>
            </a:r>
            <a:endParaRPr lang="en-US" sz="1000" dirty="0"/>
          </a:p>
        </p:txBody>
      </p:sp>
      <p:sp>
        <p:nvSpPr>
          <p:cNvPr id="16" name="Text 13"/>
          <p:cNvSpPr/>
          <p:nvPr/>
        </p:nvSpPr>
        <p:spPr>
          <a:xfrm>
            <a:off x="5394960" y="3319272"/>
            <a:ext cx="3383280" cy="219456"/>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         (small sample n=9)</a:t>
            </a:r>
            <a:endParaRPr lang="en-US" sz="1000" dirty="0"/>
          </a:p>
        </p:txBody>
      </p:sp>
      <p:sp>
        <p:nvSpPr>
          <p:cNvPr id="17" name="Shape 14"/>
          <p:cNvSpPr/>
          <p:nvPr/>
        </p:nvSpPr>
        <p:spPr>
          <a:xfrm>
            <a:off x="365760" y="4709160"/>
            <a:ext cx="8412480" cy="365760"/>
          </a:xfrm>
          <a:prstGeom prst="rect">
            <a:avLst/>
          </a:prstGeom>
          <a:solidFill>
            <a:srgbClr val="FFF9E6"/>
          </a:solidFill>
          <a:ln w="12700">
            <a:solidFill>
              <a:srgbClr val="F59E0B"/>
            </a:solidFill>
            <a:prstDash val="solid"/>
          </a:ln>
        </p:spPr>
      </p:sp>
      <p:sp>
        <p:nvSpPr>
          <p:cNvPr id="18" name="Text 15"/>
          <p:cNvSpPr/>
          <p:nvPr/>
        </p:nvSpPr>
        <p:spPr>
          <a:xfrm>
            <a:off x="502920" y="4754880"/>
            <a:ext cx="8229600" cy="292608"/>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Conclusion: r = 0.629 indicates a moderate positive linear correlation between Age and Salary. However, p = 0.07 means this is not statistically significant at the 5% level, likely due to the very small sample size (n = 9). With more data, this trend may become significant.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w="12700">
            <a:solidFill>
              <a:srgbClr val="1E2761"/>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Visualization 6 — Outlier Detection (IQR Box Plot)</a:t>
            </a:r>
            <a:endParaRPr lang="en-US" sz="2200" dirty="0"/>
          </a:p>
        </p:txBody>
      </p:sp>
      <p:pic>
        <p:nvPicPr>
          <p:cNvPr id="4" name="Image 0" descr="preencoded.png">    </p:cNvPr>
          <p:cNvPicPr>
            <a:picLocks noChangeAspect="1"/>
          </p:cNvPicPr>
          <p:nvPr/>
        </p:nvPicPr>
        <p:blipFill>
          <a:blip r:embed="rId1"/>
          <a:stretch>
            <a:fillRect/>
          </a:stretch>
        </p:blipFill>
        <p:spPr>
          <a:xfrm>
            <a:off x="274320" y="777240"/>
            <a:ext cx="8595360" cy="3383280"/>
          </a:xfrm>
          <a:prstGeom prst="rect">
            <a:avLst/>
          </a:prstGeom>
        </p:spPr>
      </p:pic>
      <p:sp>
        <p:nvSpPr>
          <p:cNvPr id="5" name="Shape 2"/>
          <p:cNvSpPr/>
          <p:nvPr/>
        </p:nvSpPr>
        <p:spPr>
          <a:xfrm>
            <a:off x="274320" y="4251960"/>
            <a:ext cx="4114800" cy="822960"/>
          </a:xfrm>
          <a:prstGeom prst="rect">
            <a:avLst/>
          </a:prstGeom>
          <a:solidFill>
            <a:srgbClr val="FFF0F0"/>
          </a:solidFill>
          <a:ln w="12700">
            <a:solidFill>
              <a:srgbClr val="E74C3C"/>
            </a:solidFill>
            <a:prstDash val="solid"/>
          </a:ln>
        </p:spPr>
      </p:sp>
      <p:sp>
        <p:nvSpPr>
          <p:cNvPr id="6" name="Text 3"/>
          <p:cNvSpPr/>
          <p:nvPr/>
        </p:nvSpPr>
        <p:spPr>
          <a:xfrm>
            <a:off x="365760" y="4279392"/>
            <a:ext cx="3931920" cy="25603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Age IQR Analysis</a:t>
            </a:r>
            <a:endParaRPr lang="en-US" sz="1100" dirty="0"/>
          </a:p>
        </p:txBody>
      </p:sp>
      <p:sp>
        <p:nvSpPr>
          <p:cNvPr id="7" name="Text 4"/>
          <p:cNvSpPr/>
          <p:nvPr/>
        </p:nvSpPr>
        <p:spPr>
          <a:xfrm>
            <a:off x="365760" y="4544568"/>
            <a:ext cx="3931920" cy="228600"/>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Q1=27  Q3=35.5  IQR=8.5  Fence=[14.75, 48.25]  Outliers: 0</a:t>
            </a:r>
            <a:endParaRPr lang="en-US" sz="1000" dirty="0"/>
          </a:p>
        </p:txBody>
      </p:sp>
      <p:sp>
        <p:nvSpPr>
          <p:cNvPr id="8" name="Shape 5"/>
          <p:cNvSpPr/>
          <p:nvPr/>
        </p:nvSpPr>
        <p:spPr>
          <a:xfrm>
            <a:off x="4754880" y="4251960"/>
            <a:ext cx="4114800" cy="822960"/>
          </a:xfrm>
          <a:prstGeom prst="rect">
            <a:avLst/>
          </a:prstGeom>
          <a:solidFill>
            <a:srgbClr val="FFF0F0"/>
          </a:solidFill>
          <a:ln w="12700">
            <a:solidFill>
              <a:srgbClr val="E74C3C"/>
            </a:solidFill>
            <a:prstDash val="solid"/>
          </a:ln>
        </p:spPr>
      </p:sp>
      <p:sp>
        <p:nvSpPr>
          <p:cNvPr id="9" name="Text 6"/>
          <p:cNvSpPr/>
          <p:nvPr/>
        </p:nvSpPr>
        <p:spPr>
          <a:xfrm>
            <a:off x="4846320" y="4279392"/>
            <a:ext cx="3931920" cy="256032"/>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Salary IQR Analysis</a:t>
            </a:r>
            <a:endParaRPr lang="en-US" sz="1100" dirty="0"/>
          </a:p>
        </p:txBody>
      </p:sp>
      <p:sp>
        <p:nvSpPr>
          <p:cNvPr id="10" name="Text 7"/>
          <p:cNvSpPr/>
          <p:nvPr/>
        </p:nvSpPr>
        <p:spPr>
          <a:xfrm>
            <a:off x="4846320" y="4544568"/>
            <a:ext cx="3931920" cy="228600"/>
          </a:xfrm>
          <a:prstGeom prst="rect">
            <a:avLst/>
          </a:prstGeom>
          <a:noFill/>
          <a:ln/>
        </p:spPr>
        <p:txBody>
          <a:bodyPr wrap="square" rtlCol="0" anchor="ctr"/>
          <a:lstStyle/>
          <a:p>
            <a:pPr indent="0" marL="0">
              <a:buNone/>
            </a:pPr>
            <a:r>
              <a:rPr lang="en-US" sz="1000" dirty="0">
                <a:solidFill>
                  <a:srgbClr val="1E293B"/>
                </a:solidFill>
                <a:latin typeface="Consolas" pitchFamily="34" charset="0"/>
                <a:ea typeface="Consolas" pitchFamily="34" charset="-122"/>
                <a:cs typeface="Consolas" pitchFamily="34" charset="-120"/>
              </a:rPr>
              <a:t>Q1=59k  Q3=65k  IQR=6k  Fence=[50k, 74k]  Outliers: 0</a:t>
            </a:r>
            <a:endParaRPr lang="en-US" sz="1000" dirty="0"/>
          </a:p>
        </p:txBody>
      </p:sp>
      <p:sp>
        <p:nvSpPr>
          <p:cNvPr id="11" name="Shape 8"/>
          <p:cNvSpPr/>
          <p:nvPr/>
        </p:nvSpPr>
        <p:spPr>
          <a:xfrm>
            <a:off x="274320" y="5120640"/>
            <a:ext cx="8595360" cy="384048"/>
          </a:xfrm>
          <a:prstGeom prst="rect">
            <a:avLst/>
          </a:prstGeom>
          <a:solidFill>
            <a:srgbClr val="E8F5E9"/>
          </a:solidFill>
          <a:ln w="12700">
            <a:solidFill>
              <a:srgbClr val="50C878"/>
            </a:solidFill>
            <a:prstDash val="solid"/>
          </a:ln>
        </p:spPr>
      </p:sp>
      <p:sp>
        <p:nvSpPr>
          <p:cNvPr id="12" name="Text 9"/>
          <p:cNvSpPr/>
          <p:nvPr/>
        </p:nvSpPr>
        <p:spPr>
          <a:xfrm>
            <a:off x="411480" y="5148072"/>
            <a:ext cx="8321040" cy="320040"/>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Conclusion: Using the IQR method, no outliers were detected in either Age or Salary after data cleaning. All data points fall within the whisker fences (Q1 − 1.5×IQR to Q3 + 1.5×IQR), confirming the cleaned dataset is free of extreme values.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2155"/>
          </a:solidFill>
          <a:ln w="12700">
            <a:solidFill>
              <a:srgbClr val="162155"/>
            </a:solidFill>
            <a:prstDash val="solid"/>
          </a:ln>
        </p:spPr>
      </p:sp>
      <p:sp>
        <p:nvSpPr>
          <p:cNvPr id="3" name="Text 1"/>
          <p:cNvSpPr/>
          <p:nvPr/>
        </p:nvSpPr>
        <p:spPr>
          <a:xfrm>
            <a:off x="274320" y="91440"/>
            <a:ext cx="859536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Findings &amp; Summary</a:t>
            </a:r>
            <a:endParaRPr lang="en-US" sz="2600" dirty="0"/>
          </a:p>
        </p:txBody>
      </p:sp>
      <p:sp>
        <p:nvSpPr>
          <p:cNvPr id="4" name="Shape 2"/>
          <p:cNvSpPr/>
          <p:nvPr/>
        </p:nvSpPr>
        <p:spPr>
          <a:xfrm>
            <a:off x="274320" y="868680"/>
            <a:ext cx="8595360" cy="594360"/>
          </a:xfrm>
          <a:prstGeom prst="rect">
            <a:avLst/>
          </a:prstGeom>
          <a:solidFill>
            <a:srgbClr val="1E3575"/>
          </a:solidFill>
          <a:ln w="12700">
            <a:solidFill>
              <a:srgbClr val="4A6DD4"/>
            </a:solidFill>
            <a:prstDash val="solid"/>
          </a:ln>
        </p:spPr>
      </p:sp>
      <p:sp>
        <p:nvSpPr>
          <p:cNvPr id="5" name="Text 3"/>
          <p:cNvSpPr/>
          <p:nvPr/>
        </p:nvSpPr>
        <p:spPr>
          <a:xfrm>
            <a:off x="411480" y="914400"/>
            <a:ext cx="2103120" cy="274320"/>
          </a:xfrm>
          <a:prstGeom prst="rect">
            <a:avLst/>
          </a:prstGeom>
          <a:noFill/>
          <a:ln/>
        </p:spPr>
        <p:txBody>
          <a:bodyPr wrap="square" rtlCol="0" anchor="ctr"/>
          <a:lstStyle/>
          <a:p>
            <a:pPr indent="0" marL="0">
              <a:buNone/>
            </a:pPr>
            <a:r>
              <a:rPr lang="en-US" sz="1200" b="1" dirty="0">
                <a:solidFill>
                  <a:srgbClr val="8AB4F8"/>
                </a:solidFill>
                <a:latin typeface="Calibri" pitchFamily="34" charset="0"/>
                <a:ea typeface="Calibri" pitchFamily="34" charset="-122"/>
                <a:cs typeface="Calibri" pitchFamily="34" charset="-120"/>
              </a:rPr>
              <a:t>🧹  Data Cleaning</a:t>
            </a:r>
            <a:endParaRPr lang="en-US" sz="1200" dirty="0"/>
          </a:p>
        </p:txBody>
      </p:sp>
      <p:sp>
        <p:nvSpPr>
          <p:cNvPr id="6" name="Text 4"/>
          <p:cNvSpPr/>
          <p:nvPr/>
        </p:nvSpPr>
        <p:spPr>
          <a:xfrm>
            <a:off x="411480" y="1152144"/>
            <a:ext cx="8321040" cy="256032"/>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6 issues fixed: semi-duplicate rows merged, text numbers converted, missing values imputed, invalid dates corrected, country codes standardised, ID dtype fixed.</a:t>
            </a:r>
            <a:endParaRPr lang="en-US" sz="1050" dirty="0"/>
          </a:p>
        </p:txBody>
      </p:sp>
      <p:sp>
        <p:nvSpPr>
          <p:cNvPr id="7" name="Shape 5"/>
          <p:cNvSpPr/>
          <p:nvPr/>
        </p:nvSpPr>
        <p:spPr>
          <a:xfrm>
            <a:off x="274320" y="1554480"/>
            <a:ext cx="8595360" cy="594360"/>
          </a:xfrm>
          <a:prstGeom prst="rect">
            <a:avLst/>
          </a:prstGeom>
          <a:solidFill>
            <a:srgbClr val="1E3575"/>
          </a:solidFill>
          <a:ln w="12700">
            <a:solidFill>
              <a:srgbClr val="4A6DD4"/>
            </a:solidFill>
            <a:prstDash val="solid"/>
          </a:ln>
        </p:spPr>
      </p:sp>
      <p:sp>
        <p:nvSpPr>
          <p:cNvPr id="8" name="Text 6"/>
          <p:cNvSpPr/>
          <p:nvPr/>
        </p:nvSpPr>
        <p:spPr>
          <a:xfrm>
            <a:off x="411480" y="1600200"/>
            <a:ext cx="2103120" cy="274320"/>
          </a:xfrm>
          <a:prstGeom prst="rect">
            <a:avLst/>
          </a:prstGeom>
          <a:noFill/>
          <a:ln/>
        </p:spPr>
        <p:txBody>
          <a:bodyPr wrap="square" rtlCol="0" anchor="ctr"/>
          <a:lstStyle/>
          <a:p>
            <a:pPr indent="0" marL="0">
              <a:buNone/>
            </a:pPr>
            <a:r>
              <a:rPr lang="en-US" sz="1200" b="1" dirty="0">
                <a:solidFill>
                  <a:srgbClr val="8AB4F8"/>
                </a:solidFill>
                <a:latin typeface="Calibri" pitchFamily="34" charset="0"/>
                <a:ea typeface="Calibri" pitchFamily="34" charset="-122"/>
                <a:cs typeface="Calibri" pitchFamily="34" charset="-120"/>
              </a:rPr>
              <a:t>📊  Salary Distribution</a:t>
            </a:r>
            <a:endParaRPr lang="en-US" sz="1200" dirty="0"/>
          </a:p>
        </p:txBody>
      </p:sp>
      <p:sp>
        <p:nvSpPr>
          <p:cNvPr id="9" name="Text 7"/>
          <p:cNvSpPr/>
          <p:nvPr/>
        </p:nvSpPr>
        <p:spPr>
          <a:xfrm>
            <a:off x="411480" y="1837944"/>
            <a:ext cx="8321040" cy="256032"/>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Salaries range NZD 55k–72k. Roughly uniform spread — no single dominant band.</a:t>
            </a:r>
            <a:endParaRPr lang="en-US" sz="1050" dirty="0"/>
          </a:p>
        </p:txBody>
      </p:sp>
      <p:sp>
        <p:nvSpPr>
          <p:cNvPr id="10" name="Shape 8"/>
          <p:cNvSpPr/>
          <p:nvPr/>
        </p:nvSpPr>
        <p:spPr>
          <a:xfrm>
            <a:off x="274320" y="2240280"/>
            <a:ext cx="8595360" cy="594360"/>
          </a:xfrm>
          <a:prstGeom prst="rect">
            <a:avLst/>
          </a:prstGeom>
          <a:solidFill>
            <a:srgbClr val="1E3575"/>
          </a:solidFill>
          <a:ln w="12700">
            <a:solidFill>
              <a:srgbClr val="4A6DD4"/>
            </a:solidFill>
            <a:prstDash val="solid"/>
          </a:ln>
        </p:spPr>
      </p:sp>
      <p:sp>
        <p:nvSpPr>
          <p:cNvPr id="11" name="Text 9"/>
          <p:cNvSpPr/>
          <p:nvPr/>
        </p:nvSpPr>
        <p:spPr>
          <a:xfrm>
            <a:off x="411480" y="2286000"/>
            <a:ext cx="2103120" cy="274320"/>
          </a:xfrm>
          <a:prstGeom prst="rect">
            <a:avLst/>
          </a:prstGeom>
          <a:noFill/>
          <a:ln/>
        </p:spPr>
        <p:txBody>
          <a:bodyPr wrap="square" rtlCol="0" anchor="ctr"/>
          <a:lstStyle/>
          <a:p>
            <a:pPr indent="0" marL="0">
              <a:buNone/>
            </a:pPr>
            <a:r>
              <a:rPr lang="en-US" sz="1200" b="1" dirty="0">
                <a:solidFill>
                  <a:srgbClr val="8AB4F8"/>
                </a:solidFill>
                <a:latin typeface="Calibri" pitchFamily="34" charset="0"/>
                <a:ea typeface="Calibri" pitchFamily="34" charset="-122"/>
                <a:cs typeface="Calibri" pitchFamily="34" charset="-120"/>
              </a:rPr>
              <a:t>🌏  Country Analysis</a:t>
            </a:r>
            <a:endParaRPr lang="en-US" sz="1200" dirty="0"/>
          </a:p>
        </p:txBody>
      </p:sp>
      <p:sp>
        <p:nvSpPr>
          <p:cNvPr id="12" name="Text 10"/>
          <p:cNvSpPr/>
          <p:nvPr/>
        </p:nvSpPr>
        <p:spPr>
          <a:xfrm>
            <a:off x="411480" y="2523744"/>
            <a:ext cx="8321040" cy="256032"/>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NZ employees are the majority (56%). AUS employees earn ~NZD 3,500 more on average.</a:t>
            </a:r>
            <a:endParaRPr lang="en-US" sz="1050" dirty="0"/>
          </a:p>
        </p:txBody>
      </p:sp>
      <p:sp>
        <p:nvSpPr>
          <p:cNvPr id="13" name="Shape 11"/>
          <p:cNvSpPr/>
          <p:nvPr/>
        </p:nvSpPr>
        <p:spPr>
          <a:xfrm>
            <a:off x="274320" y="2926080"/>
            <a:ext cx="8595360" cy="594360"/>
          </a:xfrm>
          <a:prstGeom prst="rect">
            <a:avLst/>
          </a:prstGeom>
          <a:solidFill>
            <a:srgbClr val="1E3575"/>
          </a:solidFill>
          <a:ln w="12700">
            <a:solidFill>
              <a:srgbClr val="4A6DD4"/>
            </a:solidFill>
            <a:prstDash val="solid"/>
          </a:ln>
        </p:spPr>
      </p:sp>
      <p:sp>
        <p:nvSpPr>
          <p:cNvPr id="14" name="Text 12"/>
          <p:cNvSpPr/>
          <p:nvPr/>
        </p:nvSpPr>
        <p:spPr>
          <a:xfrm>
            <a:off x="411480" y="2971800"/>
            <a:ext cx="2103120" cy="274320"/>
          </a:xfrm>
          <a:prstGeom prst="rect">
            <a:avLst/>
          </a:prstGeom>
          <a:noFill/>
          <a:ln/>
        </p:spPr>
        <p:txBody>
          <a:bodyPr wrap="square" rtlCol="0" anchor="ctr"/>
          <a:lstStyle/>
          <a:p>
            <a:pPr indent="0" marL="0">
              <a:buNone/>
            </a:pPr>
            <a:r>
              <a:rPr lang="en-US" sz="1200" b="1" dirty="0">
                <a:solidFill>
                  <a:srgbClr val="8AB4F8"/>
                </a:solidFill>
                <a:latin typeface="Calibri" pitchFamily="34" charset="0"/>
                <a:ea typeface="Calibri" pitchFamily="34" charset="-122"/>
                <a:cs typeface="Calibri" pitchFamily="34" charset="-120"/>
              </a:rPr>
              <a:t>📈  Age vs Salary</a:t>
            </a:r>
            <a:endParaRPr lang="en-US" sz="1200" dirty="0"/>
          </a:p>
        </p:txBody>
      </p:sp>
      <p:sp>
        <p:nvSpPr>
          <p:cNvPr id="15" name="Text 13"/>
          <p:cNvSpPr/>
          <p:nvPr/>
        </p:nvSpPr>
        <p:spPr>
          <a:xfrm>
            <a:off x="411480" y="3209544"/>
            <a:ext cx="8321040" cy="256032"/>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Moderate positive trend (r = 0.63). Older employees tend to earn more, but other factors also play a role.</a:t>
            </a:r>
            <a:endParaRPr lang="en-US" sz="1050" dirty="0"/>
          </a:p>
        </p:txBody>
      </p:sp>
      <p:sp>
        <p:nvSpPr>
          <p:cNvPr id="16" name="Shape 14"/>
          <p:cNvSpPr/>
          <p:nvPr/>
        </p:nvSpPr>
        <p:spPr>
          <a:xfrm>
            <a:off x="274320" y="3611880"/>
            <a:ext cx="8595360" cy="594360"/>
          </a:xfrm>
          <a:prstGeom prst="rect">
            <a:avLst/>
          </a:prstGeom>
          <a:solidFill>
            <a:srgbClr val="1E3575"/>
          </a:solidFill>
          <a:ln w="12700">
            <a:solidFill>
              <a:srgbClr val="4A6DD4"/>
            </a:solidFill>
            <a:prstDash val="solid"/>
          </a:ln>
        </p:spPr>
      </p:sp>
      <p:sp>
        <p:nvSpPr>
          <p:cNvPr id="17" name="Text 15"/>
          <p:cNvSpPr/>
          <p:nvPr/>
        </p:nvSpPr>
        <p:spPr>
          <a:xfrm>
            <a:off x="411480" y="3657600"/>
            <a:ext cx="2103120" cy="274320"/>
          </a:xfrm>
          <a:prstGeom prst="rect">
            <a:avLst/>
          </a:prstGeom>
          <a:noFill/>
          <a:ln/>
        </p:spPr>
        <p:txBody>
          <a:bodyPr wrap="square" rtlCol="0" anchor="ctr"/>
          <a:lstStyle/>
          <a:p>
            <a:pPr indent="0" marL="0">
              <a:buNone/>
            </a:pPr>
            <a:r>
              <a:rPr lang="en-US" sz="1200" b="1" dirty="0">
                <a:solidFill>
                  <a:srgbClr val="8AB4F8"/>
                </a:solidFill>
                <a:latin typeface="Calibri" pitchFamily="34" charset="0"/>
                <a:ea typeface="Calibri" pitchFamily="34" charset="-122"/>
                <a:cs typeface="Calibri" pitchFamily="34" charset="-120"/>
              </a:rPr>
              <a:t>🔥  Correlation</a:t>
            </a:r>
            <a:endParaRPr lang="en-US" sz="1200" dirty="0"/>
          </a:p>
        </p:txBody>
      </p:sp>
      <p:sp>
        <p:nvSpPr>
          <p:cNvPr id="18" name="Text 16"/>
          <p:cNvSpPr/>
          <p:nvPr/>
        </p:nvSpPr>
        <p:spPr>
          <a:xfrm>
            <a:off x="411480" y="3895344"/>
            <a:ext cx="8321040" cy="256032"/>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Pearson r = 0.629 (moderate positive). Not statistically significant at α=0.05 due to small sample (n=9).</a:t>
            </a:r>
            <a:endParaRPr lang="en-US" sz="1050" dirty="0"/>
          </a:p>
        </p:txBody>
      </p:sp>
      <p:sp>
        <p:nvSpPr>
          <p:cNvPr id="19" name="Shape 17"/>
          <p:cNvSpPr/>
          <p:nvPr/>
        </p:nvSpPr>
        <p:spPr>
          <a:xfrm>
            <a:off x="274320" y="4297680"/>
            <a:ext cx="8595360" cy="594360"/>
          </a:xfrm>
          <a:prstGeom prst="rect">
            <a:avLst/>
          </a:prstGeom>
          <a:solidFill>
            <a:srgbClr val="1E3575"/>
          </a:solidFill>
          <a:ln w="12700">
            <a:solidFill>
              <a:srgbClr val="4A6DD4"/>
            </a:solidFill>
            <a:prstDash val="solid"/>
          </a:ln>
        </p:spPr>
      </p:sp>
      <p:sp>
        <p:nvSpPr>
          <p:cNvPr id="20" name="Text 18"/>
          <p:cNvSpPr/>
          <p:nvPr/>
        </p:nvSpPr>
        <p:spPr>
          <a:xfrm>
            <a:off x="411480" y="4343400"/>
            <a:ext cx="2103120" cy="274320"/>
          </a:xfrm>
          <a:prstGeom prst="rect">
            <a:avLst/>
          </a:prstGeom>
          <a:noFill/>
          <a:ln/>
        </p:spPr>
        <p:txBody>
          <a:bodyPr wrap="square" rtlCol="0" anchor="ctr"/>
          <a:lstStyle/>
          <a:p>
            <a:pPr indent="0" marL="0">
              <a:buNone/>
            </a:pPr>
            <a:r>
              <a:rPr lang="en-US" sz="1200" b="1" dirty="0">
                <a:solidFill>
                  <a:srgbClr val="8AB4F8"/>
                </a:solidFill>
                <a:latin typeface="Calibri" pitchFamily="34" charset="0"/>
                <a:ea typeface="Calibri" pitchFamily="34" charset="-122"/>
                <a:cs typeface="Calibri" pitchFamily="34" charset="-120"/>
              </a:rPr>
              <a:t>🔍  Outliers</a:t>
            </a:r>
            <a:endParaRPr lang="en-US" sz="1200" dirty="0"/>
          </a:p>
        </p:txBody>
      </p:sp>
      <p:sp>
        <p:nvSpPr>
          <p:cNvPr id="21" name="Text 19"/>
          <p:cNvSpPr/>
          <p:nvPr/>
        </p:nvSpPr>
        <p:spPr>
          <a:xfrm>
            <a:off x="411480" y="4581144"/>
            <a:ext cx="8321040" cy="256032"/>
          </a:xfrm>
          <a:prstGeom prst="rect">
            <a:avLst/>
          </a:prstGeom>
          <a:noFill/>
          <a:ln/>
        </p:spPr>
        <p:txBody>
          <a:bodyPr wrap="square"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No outliers detected in Age or Salary after cleaning using the IQR method.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Cleaning &amp; Visualization Insights</dc:title>
  <dc:subject>PptxGenJS Presentation</dc:subject>
  <dc:creator>PptxGenJS</dc:creator>
  <cp:lastModifiedBy>PptxGenJS</cp:lastModifiedBy>
  <cp:revision>1</cp:revision>
  <dcterms:created xsi:type="dcterms:W3CDTF">2026-05-03T16:22:42Z</dcterms:created>
  <dcterms:modified xsi:type="dcterms:W3CDTF">2026-05-03T16:22:42Z</dcterms:modified>
</cp:coreProperties>
</file>